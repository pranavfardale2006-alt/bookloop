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914400"/>
            <a:ext cx="2560320" cy="365760"/>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914400"/>
            <a:ext cx="2560320" cy="365760"/>
          </a:xfrm>
          <a:prstGeom prst="rect">
            <a:avLst/>
          </a:prstGeom>
          <a:noFill/>
          <a:ln/>
        </p:spPr>
        <p:txBody>
          <a:bodyPr wrap="square" rtlCol="0" anchor="ctr"/>
          <a:lstStyle/>
          <a:p>
            <a:pPr algn="ctr" indent="0" marL="0">
              <a:buNone/>
            </a:pPr>
            <a:r>
              <a:rPr lang="en-US" sz="900" b="1" dirty="0">
                <a:solidFill>
                  <a:srgbClr val="F97316"/>
                </a:solidFill>
              </a:rPr>
              <a:t>CAMPUS MARKETPLACE PLATFORM</a:t>
            </a:r>
            <a:endParaRPr lang="en-US" sz="900" dirty="0"/>
          </a:p>
        </p:txBody>
      </p:sp>
      <p:sp>
        <p:nvSpPr>
          <p:cNvPr id="4" name="Text 2"/>
          <p:cNvSpPr/>
          <p:nvPr/>
        </p:nvSpPr>
        <p:spPr>
          <a:xfrm>
            <a:off x="731520" y="1463040"/>
            <a:ext cx="10058400" cy="1097280"/>
          </a:xfrm>
          <a:prstGeom prst="rect">
            <a:avLst/>
          </a:prstGeom>
          <a:noFill/>
          <a:ln/>
        </p:spPr>
        <p:txBody>
          <a:bodyPr wrap="square" rtlCol="0" anchor="ctr"/>
          <a:lstStyle/>
          <a:p>
            <a:pPr indent="0" marL="0">
              <a:buNone/>
            </a:pPr>
            <a:r>
              <a:rPr lang="en-US" sz="5400" b="1" dirty="0">
                <a:solidFill>
                  <a:srgbClr val="FFFFFF"/>
                </a:solidFill>
                <a:latin typeface="Arial" pitchFamily="34" charset="0"/>
                <a:ea typeface="Arial" pitchFamily="34" charset="-122"/>
                <a:cs typeface="Arial" pitchFamily="34" charset="-120"/>
              </a:rPr>
              <a:t>BookLoop</a:t>
            </a:r>
            <a:endParaRPr lang="en-US" sz="5400" dirty="0"/>
          </a:p>
        </p:txBody>
      </p:sp>
      <p:sp>
        <p:nvSpPr>
          <p:cNvPr id="5" name="Text 3"/>
          <p:cNvSpPr/>
          <p:nvPr/>
        </p:nvSpPr>
        <p:spPr>
          <a:xfrm>
            <a:off x="731520" y="2468880"/>
            <a:ext cx="10058400" cy="548640"/>
          </a:xfrm>
          <a:prstGeom prst="rect">
            <a:avLst/>
          </a:prstGeom>
          <a:noFill/>
          <a:ln/>
        </p:spPr>
        <p:txBody>
          <a:bodyPr wrap="square" rtlCol="0" anchor="ctr"/>
          <a:lstStyle/>
          <a:p>
            <a:pPr indent="0" marL="0">
              <a:buNone/>
            </a:pPr>
            <a:r>
              <a:rPr lang="en-US" sz="2200" i="1" dirty="0">
                <a:solidFill>
                  <a:srgbClr val="93C5FD"/>
                </a:solidFill>
                <a:latin typeface="Arial" pitchFamily="34" charset="0"/>
                <a:ea typeface="Arial" pitchFamily="34" charset="-122"/>
                <a:cs typeface="Arial" pitchFamily="34" charset="-120"/>
              </a:rPr>
              <a:t>“Read More. Spend Less.”</a:t>
            </a:r>
            <a:endParaRPr lang="en-US" sz="2200" dirty="0"/>
          </a:p>
        </p:txBody>
      </p:sp>
      <p:sp>
        <p:nvSpPr>
          <p:cNvPr id="6" name="Text 4"/>
          <p:cNvSpPr/>
          <p:nvPr/>
        </p:nvSpPr>
        <p:spPr>
          <a:xfrm>
            <a:off x="731520" y="3108960"/>
            <a:ext cx="8686800" cy="914400"/>
          </a:xfrm>
          <a:prstGeom prst="rect">
            <a:avLst/>
          </a:prstGeom>
          <a:noFill/>
          <a:ln/>
        </p:spPr>
        <p:txBody>
          <a:bodyPr wrap="square" rtlCol="0" anchor="ctr"/>
          <a:lstStyle/>
          <a:p>
            <a:pPr indent="0" marL="0">
              <a:lnSpc>
                <a:spcPts val="2200"/>
              </a:lnSpc>
              <a:buNone/>
            </a:pPr>
            <a:r>
              <a:rPr lang="en-US" sz="1400" dirty="0">
                <a:solidFill>
                  <a:srgbClr val="CBD5E1"/>
                </a:solidFill>
              </a:rPr>
              <a:t>A Modern, Peer-to-Peer Second-Hand Study Materials Marketplace for College Students, Reference Guides, Topper Notes &amp; Competitive Exam Materials.</a:t>
            </a:r>
            <a:endParaRPr lang="en-US" sz="1400" dirty="0"/>
          </a:p>
        </p:txBody>
      </p:sp>
      <p:sp>
        <p:nvSpPr>
          <p:cNvPr id="7" name="Shape 5"/>
          <p:cNvSpPr/>
          <p:nvPr/>
        </p:nvSpPr>
        <p:spPr>
          <a:xfrm>
            <a:off x="731520" y="4389120"/>
            <a:ext cx="3200400" cy="1280160"/>
          </a:xfrm>
          <a:prstGeom prst="roundRect">
            <a:avLst>
              <a:gd name="adj" fmla="val 10714"/>
            </a:avLst>
          </a:prstGeom>
          <a:solidFill>
            <a:srgbClr val="1E293B"/>
          </a:solidFill>
          <a:ln w="25400">
            <a:solidFill>
              <a:srgbClr val="2563EB"/>
            </a:solidFill>
            <a:prstDash val="solid"/>
          </a:ln>
        </p:spPr>
      </p:sp>
      <p:sp>
        <p:nvSpPr>
          <p:cNvPr id="8" name="Text 6"/>
          <p:cNvSpPr/>
          <p:nvPr/>
        </p:nvSpPr>
        <p:spPr>
          <a:xfrm>
            <a:off x="1005840" y="4572000"/>
            <a:ext cx="2743200" cy="411480"/>
          </a:xfrm>
          <a:prstGeom prst="rect">
            <a:avLst/>
          </a:prstGeom>
          <a:noFill/>
          <a:ln/>
        </p:spPr>
        <p:txBody>
          <a:bodyPr wrap="square" rtlCol="0" anchor="ctr"/>
          <a:lstStyle/>
          <a:p>
            <a:pPr indent="0" marL="0">
              <a:buNone/>
            </a:pPr>
            <a:r>
              <a:rPr lang="en-US" sz="1400" b="1" dirty="0">
                <a:solidFill>
                  <a:srgbClr val="FFFFFF"/>
                </a:solidFill>
              </a:rPr>
              <a:t>Save Up To 75%</a:t>
            </a:r>
            <a:endParaRPr lang="en-US" sz="1400" dirty="0"/>
          </a:p>
        </p:txBody>
      </p:sp>
      <p:sp>
        <p:nvSpPr>
          <p:cNvPr id="9" name="Text 7"/>
          <p:cNvSpPr/>
          <p:nvPr/>
        </p:nvSpPr>
        <p:spPr>
          <a:xfrm>
            <a:off x="1005840" y="4983480"/>
            <a:ext cx="2743200" cy="457200"/>
          </a:xfrm>
          <a:prstGeom prst="rect">
            <a:avLst/>
          </a:prstGeom>
          <a:noFill/>
          <a:ln/>
        </p:spPr>
        <p:txBody>
          <a:bodyPr wrap="square" rtlCol="0" anchor="ctr"/>
          <a:lstStyle/>
          <a:p>
            <a:pPr indent="0" marL="0">
              <a:buNone/>
            </a:pPr>
            <a:r>
              <a:rPr lang="en-US" sz="1100" dirty="0">
                <a:solidFill>
                  <a:srgbClr val="94A3B8"/>
                </a:solidFill>
              </a:rPr>
              <a:t>Affordable INR (₹) Pricing</a:t>
            </a:r>
            <a:endParaRPr lang="en-US" sz="1100" dirty="0"/>
          </a:p>
        </p:txBody>
      </p:sp>
      <p:sp>
        <p:nvSpPr>
          <p:cNvPr id="10" name="Shape 8"/>
          <p:cNvSpPr/>
          <p:nvPr/>
        </p:nvSpPr>
        <p:spPr>
          <a:xfrm>
            <a:off x="4206240" y="4389120"/>
            <a:ext cx="3200400" cy="1280160"/>
          </a:xfrm>
          <a:prstGeom prst="roundRect">
            <a:avLst>
              <a:gd name="adj" fmla="val 10714"/>
            </a:avLst>
          </a:prstGeom>
          <a:solidFill>
            <a:srgbClr val="1E293B"/>
          </a:solidFill>
          <a:ln w="25400">
            <a:solidFill>
              <a:srgbClr val="F97316"/>
            </a:solidFill>
            <a:prstDash val="solid"/>
          </a:ln>
        </p:spPr>
      </p:sp>
      <p:sp>
        <p:nvSpPr>
          <p:cNvPr id="11" name="Text 9"/>
          <p:cNvSpPr/>
          <p:nvPr/>
        </p:nvSpPr>
        <p:spPr>
          <a:xfrm>
            <a:off x="4480560" y="4572000"/>
            <a:ext cx="2743200" cy="411480"/>
          </a:xfrm>
          <a:prstGeom prst="rect">
            <a:avLst/>
          </a:prstGeom>
          <a:noFill/>
          <a:ln/>
        </p:spPr>
        <p:txBody>
          <a:bodyPr wrap="square" rtlCol="0" anchor="ctr"/>
          <a:lstStyle/>
          <a:p>
            <a:pPr indent="0" marL="0">
              <a:buNone/>
            </a:pPr>
            <a:r>
              <a:rPr lang="en-US" sz="1400" b="1" dirty="0">
                <a:solidFill>
                  <a:srgbClr val="FFFFFF"/>
                </a:solidFill>
              </a:rPr>
              <a:t>Student Verified</a:t>
            </a:r>
            <a:endParaRPr lang="en-US" sz="1400" dirty="0"/>
          </a:p>
        </p:txBody>
      </p:sp>
      <p:sp>
        <p:nvSpPr>
          <p:cNvPr id="12" name="Text 10"/>
          <p:cNvSpPr/>
          <p:nvPr/>
        </p:nvSpPr>
        <p:spPr>
          <a:xfrm>
            <a:off x="4480560" y="4983480"/>
            <a:ext cx="2743200" cy="457200"/>
          </a:xfrm>
          <a:prstGeom prst="rect">
            <a:avLst/>
          </a:prstGeom>
          <a:noFill/>
          <a:ln/>
        </p:spPr>
        <p:txBody>
          <a:bodyPr wrap="square" rtlCol="0" anchor="ctr"/>
          <a:lstStyle/>
          <a:p>
            <a:pPr indent="0" marL="0">
              <a:buNone/>
            </a:pPr>
            <a:r>
              <a:rPr lang="en-US" sz="1100" dirty="0">
                <a:solidFill>
                  <a:srgbClr val="94A3B8"/>
                </a:solidFill>
              </a:rPr>
              <a:t>Campus-to-Campus Meetups</a:t>
            </a:r>
            <a:endParaRPr lang="en-US" sz="1100" dirty="0"/>
          </a:p>
        </p:txBody>
      </p:sp>
      <p:sp>
        <p:nvSpPr>
          <p:cNvPr id="13" name="Shape 11"/>
          <p:cNvSpPr/>
          <p:nvPr/>
        </p:nvSpPr>
        <p:spPr>
          <a:xfrm>
            <a:off x="7680960" y="4389120"/>
            <a:ext cx="3200400" cy="1280160"/>
          </a:xfrm>
          <a:prstGeom prst="roundRect">
            <a:avLst>
              <a:gd name="adj" fmla="val 10714"/>
            </a:avLst>
          </a:prstGeom>
          <a:solidFill>
            <a:srgbClr val="1E293B"/>
          </a:solidFill>
          <a:ln w="25400">
            <a:solidFill>
              <a:srgbClr val="10B981"/>
            </a:solidFill>
            <a:prstDash val="solid"/>
          </a:ln>
        </p:spPr>
      </p:sp>
      <p:sp>
        <p:nvSpPr>
          <p:cNvPr id="14" name="Text 12"/>
          <p:cNvSpPr/>
          <p:nvPr/>
        </p:nvSpPr>
        <p:spPr>
          <a:xfrm>
            <a:off x="7955280" y="4572000"/>
            <a:ext cx="2743200" cy="411480"/>
          </a:xfrm>
          <a:prstGeom prst="rect">
            <a:avLst/>
          </a:prstGeom>
          <a:noFill/>
          <a:ln/>
        </p:spPr>
        <p:txBody>
          <a:bodyPr wrap="square" rtlCol="0" anchor="ctr"/>
          <a:lstStyle/>
          <a:p>
            <a:pPr indent="0" marL="0">
              <a:buNone/>
            </a:pPr>
            <a:r>
              <a:rPr lang="en-US" sz="1400" b="1" dirty="0">
                <a:solidFill>
                  <a:srgbClr val="FFFFFF"/>
                </a:solidFill>
              </a:rPr>
              <a:t>8 Key Categories</a:t>
            </a:r>
            <a:endParaRPr lang="en-US" sz="1400" dirty="0"/>
          </a:p>
        </p:txBody>
      </p:sp>
      <p:sp>
        <p:nvSpPr>
          <p:cNvPr id="15" name="Text 13"/>
          <p:cNvSpPr/>
          <p:nvPr/>
        </p:nvSpPr>
        <p:spPr>
          <a:xfrm>
            <a:off x="7955280" y="4983480"/>
            <a:ext cx="2743200" cy="457200"/>
          </a:xfrm>
          <a:prstGeom prst="rect">
            <a:avLst/>
          </a:prstGeom>
          <a:noFill/>
          <a:ln/>
        </p:spPr>
        <p:txBody>
          <a:bodyPr wrap="square" rtlCol="0" anchor="ctr"/>
          <a:lstStyle/>
          <a:p>
            <a:pPr indent="0" marL="0">
              <a:buNone/>
            </a:pPr>
            <a:r>
              <a:rPr lang="en-US" sz="1100" dirty="0">
                <a:solidFill>
                  <a:srgbClr val="94A3B8"/>
                </a:solidFill>
              </a:rPr>
              <a:t>Engineering, Medical &amp; Exams</a:t>
            </a:r>
            <a:endParaRPr lang="en-US" sz="1100" dirty="0"/>
          </a:p>
        </p:txBody>
      </p:sp>
      <p:sp>
        <p:nvSpPr>
          <p:cNvPr id="16" name="Text 14"/>
          <p:cNvSpPr/>
          <p:nvPr/>
        </p:nvSpPr>
        <p:spPr>
          <a:xfrm>
            <a:off x="731520" y="6217920"/>
            <a:ext cx="5486400" cy="274320"/>
          </a:xfrm>
          <a:prstGeom prst="rect">
            <a:avLst/>
          </a:prstGeom>
          <a:noFill/>
          <a:ln/>
        </p:spPr>
        <p:txBody>
          <a:bodyPr wrap="square" rtlCol="0" anchor="ctr"/>
          <a:lstStyle/>
          <a:p>
            <a:pPr indent="0" marL="0">
              <a:buNone/>
            </a:pPr>
            <a:r>
              <a:rPr lang="en-US" sz="1000" dirty="0">
                <a:solidFill>
                  <a:srgbClr val="64748B"/>
                </a:solidFill>
              </a:rPr>
              <a:t>Academic Project Presentation  |  Academic Year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57200"/>
            <a:ext cx="2377440" cy="320040"/>
          </a:xfrm>
          <a:prstGeom prst="roundRect">
            <a:avLst>
              <a:gd name="adj" fmla="val 28571"/>
            </a:avLst>
          </a:prstGeom>
          <a:solidFill>
            <a:srgbClr val="EFF6FF"/>
          </a:solidFill>
          <a:ln w="12700">
            <a:solidFill>
              <a:srgbClr val="BFDBFE"/>
            </a:solidFill>
            <a:prstDash val="solid"/>
          </a:ln>
        </p:spPr>
      </p:sp>
      <p:sp>
        <p:nvSpPr>
          <p:cNvPr id="3" name="Text 1"/>
          <p:cNvSpPr/>
          <p:nvPr/>
        </p:nvSpPr>
        <p:spPr>
          <a:xfrm>
            <a:off x="731520" y="457200"/>
            <a:ext cx="2377440" cy="320040"/>
          </a:xfrm>
          <a:prstGeom prst="rect">
            <a:avLst/>
          </a:prstGeom>
          <a:noFill/>
          <a:ln/>
        </p:spPr>
        <p:txBody>
          <a:bodyPr wrap="square" rtlCol="0" anchor="ctr"/>
          <a:lstStyle/>
          <a:p>
            <a:pPr algn="ctr" indent="0" marL="0">
              <a:buNone/>
            </a:pPr>
            <a:r>
              <a:rPr lang="en-US" sz="900" b="1" dirty="0">
                <a:solidFill>
                  <a:srgbClr val="2563EB"/>
                </a:solidFill>
              </a:rPr>
              <a:t>INDUSTRY PROBLEM</a:t>
            </a:r>
            <a:endParaRPr lang="en-US" sz="9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The Student Challenge: Textbook Inflation &amp; Waste</a:t>
            </a:r>
            <a:endParaRPr lang="en-US" sz="2200" dirty="0"/>
          </a:p>
        </p:txBody>
      </p:sp>
      <p:sp>
        <p:nvSpPr>
          <p:cNvPr id="5" name="Shape 3"/>
          <p:cNvSpPr/>
          <p:nvPr/>
        </p:nvSpPr>
        <p:spPr>
          <a:xfrm>
            <a:off x="0" y="0"/>
            <a:ext cx="9144000" cy="73152"/>
          </a:xfrm>
          <a:prstGeom prst="rect">
            <a:avLst/>
          </a:prstGeom>
          <a:solidFill>
            <a:srgbClr val="2563EB"/>
          </a:solidFill>
          <a:ln/>
        </p:spPr>
      </p:sp>
      <p:sp>
        <p:nvSpPr>
          <p:cNvPr id="6" name="Text 4"/>
          <p:cNvSpPr/>
          <p:nvPr/>
        </p:nvSpPr>
        <p:spPr>
          <a:xfrm>
            <a:off x="731520" y="6400800"/>
            <a:ext cx="4572000" cy="274320"/>
          </a:xfrm>
          <a:prstGeom prst="rect">
            <a:avLst/>
          </a:prstGeom>
          <a:noFill/>
          <a:ln/>
        </p:spPr>
        <p:txBody>
          <a:bodyPr wrap="square" rtlCol="0" anchor="ctr"/>
          <a:lstStyle/>
          <a:p>
            <a:pPr indent="0" marL="0">
              <a:buNone/>
            </a:pPr>
            <a:r>
              <a:rPr lang="en-US" sz="900" dirty="0">
                <a:solidFill>
                  <a:srgbClr val="64748B"/>
                </a:solidFill>
              </a:rPr>
              <a:t>BookLoop  |  Read More. Spend Less.</a:t>
            </a:r>
            <a:endParaRPr lang="en-US" sz="900" dirty="0"/>
          </a:p>
        </p:txBody>
      </p:sp>
      <p:sp>
        <p:nvSpPr>
          <p:cNvPr id="7" name="Shape 5"/>
          <p:cNvSpPr/>
          <p:nvPr/>
        </p:nvSpPr>
        <p:spPr>
          <a:xfrm>
            <a:off x="731520" y="1737360"/>
            <a:ext cx="4937760" cy="1828800"/>
          </a:xfrm>
          <a:prstGeom prst="roundRect">
            <a:avLst>
              <a:gd name="adj" fmla="val 7500"/>
            </a:avLst>
          </a:prstGeom>
          <a:solidFill>
            <a:srgbClr val="FFFFFF"/>
          </a:solidFill>
          <a:ln w="12700">
            <a:solidFill>
              <a:srgbClr val="E2E8F0"/>
            </a:solidFill>
            <a:prstDash val="solid"/>
          </a:ln>
        </p:spPr>
      </p:sp>
      <p:sp>
        <p:nvSpPr>
          <p:cNvPr id="8" name="Shape 6"/>
          <p:cNvSpPr/>
          <p:nvPr/>
        </p:nvSpPr>
        <p:spPr>
          <a:xfrm>
            <a:off x="1005840" y="2011680"/>
            <a:ext cx="411480" cy="411480"/>
          </a:xfrm>
          <a:prstGeom prst="ellipse">
            <a:avLst/>
          </a:prstGeom>
          <a:solidFill>
            <a:srgbClr val="EF4444"/>
          </a:solidFill>
          <a:ln/>
        </p:spPr>
      </p:sp>
      <p:sp>
        <p:nvSpPr>
          <p:cNvPr id="9" name="Text 7"/>
          <p:cNvSpPr/>
          <p:nvPr/>
        </p:nvSpPr>
        <p:spPr>
          <a:xfrm>
            <a:off x="1005840" y="2011680"/>
            <a:ext cx="411480" cy="411480"/>
          </a:xfrm>
          <a:prstGeom prst="rect">
            <a:avLst/>
          </a:prstGeom>
          <a:noFill/>
          <a:ln/>
        </p:spPr>
        <p:txBody>
          <a:bodyPr wrap="square" rtlCol="0" anchor="ctr"/>
          <a:lstStyle/>
          <a:p>
            <a:pPr algn="ctr" indent="0" marL="0">
              <a:buNone/>
            </a:pPr>
            <a:r>
              <a:rPr lang="en-US" sz="1100" b="1" dirty="0">
                <a:solidFill>
                  <a:srgbClr val="FFFFFF"/>
                </a:solidFill>
              </a:rPr>
              <a:t>1</a:t>
            </a:r>
            <a:endParaRPr lang="en-US" sz="1100" dirty="0"/>
          </a:p>
        </p:txBody>
      </p:sp>
      <p:sp>
        <p:nvSpPr>
          <p:cNvPr id="10" name="Text 8"/>
          <p:cNvSpPr/>
          <p:nvPr/>
        </p:nvSpPr>
        <p:spPr>
          <a:xfrm>
            <a:off x="1554480" y="1965960"/>
            <a:ext cx="3840480" cy="457200"/>
          </a:xfrm>
          <a:prstGeom prst="rect">
            <a:avLst/>
          </a:prstGeom>
          <a:noFill/>
          <a:ln/>
        </p:spPr>
        <p:txBody>
          <a:bodyPr wrap="square" rtlCol="0" anchor="ctr"/>
          <a:lstStyle/>
          <a:p>
            <a:pPr indent="0" marL="0">
              <a:buNone/>
            </a:pPr>
            <a:r>
              <a:rPr lang="en-US" sz="1400" b="1" dirty="0">
                <a:solidFill>
                  <a:srgbClr val="1E293B"/>
                </a:solidFill>
              </a:rPr>
              <a:t>High Textbook Costs</a:t>
            </a:r>
            <a:endParaRPr lang="en-US" sz="1400" dirty="0"/>
          </a:p>
        </p:txBody>
      </p:sp>
      <p:sp>
        <p:nvSpPr>
          <p:cNvPr id="11" name="Text 9"/>
          <p:cNvSpPr/>
          <p:nvPr/>
        </p:nvSpPr>
        <p:spPr>
          <a:xfrm>
            <a:off x="1554480" y="2468880"/>
            <a:ext cx="3840480" cy="914400"/>
          </a:xfrm>
          <a:prstGeom prst="rect">
            <a:avLst/>
          </a:prstGeom>
          <a:noFill/>
          <a:ln/>
        </p:spPr>
        <p:txBody>
          <a:bodyPr wrap="square" rtlCol="0" anchor="ctr"/>
          <a:lstStyle/>
          <a:p>
            <a:pPr indent="0" marL="0">
              <a:lnSpc>
                <a:spcPts val="1600"/>
              </a:lnSpc>
              <a:buNone/>
            </a:pPr>
            <a:r>
              <a:rPr lang="en-US" sz="1100" dirty="0">
                <a:solidFill>
                  <a:srgbClr val="64748B"/>
                </a:solidFill>
              </a:rPr>
              <a:t>Standard engineering, medical, and competitive books (CLRS, Guyton, HC Verma) cost ₹800 - ₹3,000+ per semester, heavily straining student budgets.</a:t>
            </a:r>
            <a:endParaRPr lang="en-US" sz="1100" dirty="0"/>
          </a:p>
        </p:txBody>
      </p:sp>
      <p:sp>
        <p:nvSpPr>
          <p:cNvPr id="12" name="Shape 10"/>
          <p:cNvSpPr/>
          <p:nvPr/>
        </p:nvSpPr>
        <p:spPr>
          <a:xfrm>
            <a:off x="6035040" y="1737360"/>
            <a:ext cx="4937760" cy="1828800"/>
          </a:xfrm>
          <a:prstGeom prst="roundRect">
            <a:avLst>
              <a:gd name="adj" fmla="val 7500"/>
            </a:avLst>
          </a:prstGeom>
          <a:solidFill>
            <a:srgbClr val="FFFFFF"/>
          </a:solidFill>
          <a:ln w="12700">
            <a:solidFill>
              <a:srgbClr val="E2E8F0"/>
            </a:solidFill>
            <a:prstDash val="solid"/>
          </a:ln>
        </p:spPr>
      </p:sp>
      <p:sp>
        <p:nvSpPr>
          <p:cNvPr id="13" name="Shape 11"/>
          <p:cNvSpPr/>
          <p:nvPr/>
        </p:nvSpPr>
        <p:spPr>
          <a:xfrm>
            <a:off x="6309360" y="2011680"/>
            <a:ext cx="411480" cy="411480"/>
          </a:xfrm>
          <a:prstGeom prst="ellipse">
            <a:avLst/>
          </a:prstGeom>
          <a:solidFill>
            <a:srgbClr val="F97316"/>
          </a:solidFill>
          <a:ln/>
        </p:spPr>
      </p:sp>
      <p:sp>
        <p:nvSpPr>
          <p:cNvPr id="14" name="Text 12"/>
          <p:cNvSpPr/>
          <p:nvPr/>
        </p:nvSpPr>
        <p:spPr>
          <a:xfrm>
            <a:off x="6309360" y="2011680"/>
            <a:ext cx="411480" cy="411480"/>
          </a:xfrm>
          <a:prstGeom prst="rect">
            <a:avLst/>
          </a:prstGeom>
          <a:noFill/>
          <a:ln/>
        </p:spPr>
        <p:txBody>
          <a:bodyPr wrap="square" rtlCol="0" anchor="ctr"/>
          <a:lstStyle/>
          <a:p>
            <a:pPr algn="ctr" indent="0" marL="0">
              <a:buNone/>
            </a:pPr>
            <a:r>
              <a:rPr lang="en-US" sz="1100" b="1" dirty="0">
                <a:solidFill>
                  <a:srgbClr val="FFFFFF"/>
                </a:solidFill>
              </a:rPr>
              <a:t>2</a:t>
            </a:r>
            <a:endParaRPr lang="en-US" sz="1100" dirty="0"/>
          </a:p>
        </p:txBody>
      </p:sp>
      <p:sp>
        <p:nvSpPr>
          <p:cNvPr id="15" name="Text 13"/>
          <p:cNvSpPr/>
          <p:nvPr/>
        </p:nvSpPr>
        <p:spPr>
          <a:xfrm>
            <a:off x="6858000" y="1965960"/>
            <a:ext cx="3840480" cy="457200"/>
          </a:xfrm>
          <a:prstGeom prst="rect">
            <a:avLst/>
          </a:prstGeom>
          <a:noFill/>
          <a:ln/>
        </p:spPr>
        <p:txBody>
          <a:bodyPr wrap="square" rtlCol="0" anchor="ctr"/>
          <a:lstStyle/>
          <a:p>
            <a:pPr indent="0" marL="0">
              <a:buNone/>
            </a:pPr>
            <a:r>
              <a:rPr lang="en-US" sz="1400" b="1" dirty="0">
                <a:solidFill>
                  <a:srgbClr val="1E293B"/>
                </a:solidFill>
              </a:rPr>
              <a:t>Single-Semester Shelf Life</a:t>
            </a:r>
            <a:endParaRPr lang="en-US" sz="1400" dirty="0"/>
          </a:p>
        </p:txBody>
      </p:sp>
      <p:sp>
        <p:nvSpPr>
          <p:cNvPr id="16" name="Text 14"/>
          <p:cNvSpPr/>
          <p:nvPr/>
        </p:nvSpPr>
        <p:spPr>
          <a:xfrm>
            <a:off x="6858000" y="2468880"/>
            <a:ext cx="3840480" cy="914400"/>
          </a:xfrm>
          <a:prstGeom prst="rect">
            <a:avLst/>
          </a:prstGeom>
          <a:noFill/>
          <a:ln/>
        </p:spPr>
        <p:txBody>
          <a:bodyPr wrap="square" rtlCol="0" anchor="ctr"/>
          <a:lstStyle/>
          <a:p>
            <a:pPr indent="0" marL="0">
              <a:lnSpc>
                <a:spcPts val="1600"/>
              </a:lnSpc>
              <a:buNone/>
            </a:pPr>
            <a:r>
              <a:rPr lang="en-US" sz="1100" dirty="0">
                <a:solidFill>
                  <a:srgbClr val="64748B"/>
                </a:solidFill>
              </a:rPr>
              <a:t>Most textbooks and syllabus notes are only used for 4 to 6 months before gathering dust in hostel rooms and bookshelves.</a:t>
            </a:r>
            <a:endParaRPr lang="en-US" sz="1100" dirty="0"/>
          </a:p>
        </p:txBody>
      </p:sp>
      <p:sp>
        <p:nvSpPr>
          <p:cNvPr id="17" name="Shape 15"/>
          <p:cNvSpPr/>
          <p:nvPr/>
        </p:nvSpPr>
        <p:spPr>
          <a:xfrm>
            <a:off x="731520" y="3840480"/>
            <a:ext cx="4937760" cy="1828800"/>
          </a:xfrm>
          <a:prstGeom prst="roundRect">
            <a:avLst>
              <a:gd name="adj" fmla="val 7500"/>
            </a:avLst>
          </a:prstGeom>
          <a:solidFill>
            <a:srgbClr val="FFFFFF"/>
          </a:solidFill>
          <a:ln w="12700">
            <a:solidFill>
              <a:srgbClr val="E2E8F0"/>
            </a:solidFill>
            <a:prstDash val="solid"/>
          </a:ln>
        </p:spPr>
      </p:sp>
      <p:sp>
        <p:nvSpPr>
          <p:cNvPr id="18" name="Shape 16"/>
          <p:cNvSpPr/>
          <p:nvPr/>
        </p:nvSpPr>
        <p:spPr>
          <a:xfrm>
            <a:off x="1005840" y="4114800"/>
            <a:ext cx="411480" cy="411480"/>
          </a:xfrm>
          <a:prstGeom prst="ellipse">
            <a:avLst/>
          </a:prstGeom>
          <a:solidFill>
            <a:srgbClr val="8B5CF6"/>
          </a:solidFill>
          <a:ln/>
        </p:spPr>
      </p:sp>
      <p:sp>
        <p:nvSpPr>
          <p:cNvPr id="19" name="Text 17"/>
          <p:cNvSpPr/>
          <p:nvPr/>
        </p:nvSpPr>
        <p:spPr>
          <a:xfrm>
            <a:off x="1005840" y="4114800"/>
            <a:ext cx="411480" cy="411480"/>
          </a:xfrm>
          <a:prstGeom prst="rect">
            <a:avLst/>
          </a:prstGeom>
          <a:noFill/>
          <a:ln/>
        </p:spPr>
        <p:txBody>
          <a:bodyPr wrap="square" rtlCol="0" anchor="ctr"/>
          <a:lstStyle/>
          <a:p>
            <a:pPr algn="ctr" indent="0" marL="0">
              <a:buNone/>
            </a:pPr>
            <a:r>
              <a:rPr lang="en-US" sz="1100" b="1" dirty="0">
                <a:solidFill>
                  <a:srgbClr val="FFFFFF"/>
                </a:solidFill>
              </a:rPr>
              <a:t>3</a:t>
            </a:r>
            <a:endParaRPr lang="en-US" sz="1100" dirty="0"/>
          </a:p>
        </p:txBody>
      </p:sp>
      <p:sp>
        <p:nvSpPr>
          <p:cNvPr id="20" name="Text 18"/>
          <p:cNvSpPr/>
          <p:nvPr/>
        </p:nvSpPr>
        <p:spPr>
          <a:xfrm>
            <a:off x="1554480" y="4069080"/>
            <a:ext cx="3840480" cy="457200"/>
          </a:xfrm>
          <a:prstGeom prst="rect">
            <a:avLst/>
          </a:prstGeom>
          <a:noFill/>
          <a:ln/>
        </p:spPr>
        <p:txBody>
          <a:bodyPr wrap="square" rtlCol="0" anchor="ctr"/>
          <a:lstStyle/>
          <a:p>
            <a:pPr indent="0" marL="0">
              <a:buNone/>
            </a:pPr>
            <a:r>
              <a:rPr lang="en-US" sz="1400" b="1" dirty="0">
                <a:solidFill>
                  <a:srgbClr val="1E293B"/>
                </a:solidFill>
              </a:rPr>
              <a:t>Inefficient Scrap Market</a:t>
            </a:r>
            <a:endParaRPr lang="en-US" sz="1400" dirty="0"/>
          </a:p>
        </p:txBody>
      </p:sp>
      <p:sp>
        <p:nvSpPr>
          <p:cNvPr id="21" name="Text 19"/>
          <p:cNvSpPr/>
          <p:nvPr/>
        </p:nvSpPr>
        <p:spPr>
          <a:xfrm>
            <a:off x="1554480" y="4572000"/>
            <a:ext cx="3840480" cy="914400"/>
          </a:xfrm>
          <a:prstGeom prst="rect">
            <a:avLst/>
          </a:prstGeom>
          <a:noFill/>
          <a:ln/>
        </p:spPr>
        <p:txBody>
          <a:bodyPr wrap="square" rtlCol="0" anchor="ctr"/>
          <a:lstStyle/>
          <a:p>
            <a:pPr indent="0" marL="0">
              <a:lnSpc>
                <a:spcPts val="1600"/>
              </a:lnSpc>
              <a:buNone/>
            </a:pPr>
            <a:r>
              <a:rPr lang="en-US" sz="1100" dirty="0">
                <a:solidFill>
                  <a:srgbClr val="64748B"/>
                </a:solidFill>
              </a:rPr>
              <a:t>Selling books to local raddiwalas (scrap dealers) returns merely ₹10-₹20/kg, destroying 95% of the book’s intellectual and financial value.</a:t>
            </a:r>
            <a:endParaRPr lang="en-US" sz="1100" dirty="0"/>
          </a:p>
        </p:txBody>
      </p:sp>
      <p:sp>
        <p:nvSpPr>
          <p:cNvPr id="22" name="Shape 20"/>
          <p:cNvSpPr/>
          <p:nvPr/>
        </p:nvSpPr>
        <p:spPr>
          <a:xfrm>
            <a:off x="6035040" y="3840480"/>
            <a:ext cx="4937760" cy="1828800"/>
          </a:xfrm>
          <a:prstGeom prst="roundRect">
            <a:avLst>
              <a:gd name="adj" fmla="val 7500"/>
            </a:avLst>
          </a:prstGeom>
          <a:solidFill>
            <a:srgbClr val="FFFFFF"/>
          </a:solidFill>
          <a:ln w="12700">
            <a:solidFill>
              <a:srgbClr val="E2E8F0"/>
            </a:solidFill>
            <a:prstDash val="solid"/>
          </a:ln>
        </p:spPr>
      </p:sp>
      <p:sp>
        <p:nvSpPr>
          <p:cNvPr id="23" name="Shape 21"/>
          <p:cNvSpPr/>
          <p:nvPr/>
        </p:nvSpPr>
        <p:spPr>
          <a:xfrm>
            <a:off x="6309360" y="4114800"/>
            <a:ext cx="411480" cy="411480"/>
          </a:xfrm>
          <a:prstGeom prst="ellipse">
            <a:avLst/>
          </a:prstGeom>
          <a:solidFill>
            <a:srgbClr val="EC4899"/>
          </a:solidFill>
          <a:ln/>
        </p:spPr>
      </p:sp>
      <p:sp>
        <p:nvSpPr>
          <p:cNvPr id="24" name="Text 22"/>
          <p:cNvSpPr/>
          <p:nvPr/>
        </p:nvSpPr>
        <p:spPr>
          <a:xfrm>
            <a:off x="6309360" y="4114800"/>
            <a:ext cx="411480" cy="411480"/>
          </a:xfrm>
          <a:prstGeom prst="rect">
            <a:avLst/>
          </a:prstGeom>
          <a:noFill/>
          <a:ln/>
        </p:spPr>
        <p:txBody>
          <a:bodyPr wrap="square" rtlCol="0" anchor="ctr"/>
          <a:lstStyle/>
          <a:p>
            <a:pPr algn="ctr" indent="0" marL="0">
              <a:buNone/>
            </a:pPr>
            <a:r>
              <a:rPr lang="en-US" sz="1100" b="1" dirty="0">
                <a:solidFill>
                  <a:srgbClr val="FFFFFF"/>
                </a:solidFill>
              </a:rPr>
              <a:t>4</a:t>
            </a:r>
            <a:endParaRPr lang="en-US" sz="1100" dirty="0"/>
          </a:p>
        </p:txBody>
      </p:sp>
      <p:sp>
        <p:nvSpPr>
          <p:cNvPr id="25" name="Text 23"/>
          <p:cNvSpPr/>
          <p:nvPr/>
        </p:nvSpPr>
        <p:spPr>
          <a:xfrm>
            <a:off x="6858000" y="4069080"/>
            <a:ext cx="3840480" cy="457200"/>
          </a:xfrm>
          <a:prstGeom prst="rect">
            <a:avLst/>
          </a:prstGeom>
          <a:noFill/>
          <a:ln/>
        </p:spPr>
        <p:txBody>
          <a:bodyPr wrap="square" rtlCol="0" anchor="ctr"/>
          <a:lstStyle/>
          <a:p>
            <a:pPr indent="0" marL="0">
              <a:buNone/>
            </a:pPr>
            <a:r>
              <a:rPr lang="en-US" sz="1400" b="1" dirty="0">
                <a:solidFill>
                  <a:srgbClr val="1E293B"/>
                </a:solidFill>
              </a:rPr>
              <a:t>Lack of Campus Trust &amp; Reach</a:t>
            </a:r>
            <a:endParaRPr lang="en-US" sz="1400" dirty="0"/>
          </a:p>
        </p:txBody>
      </p:sp>
      <p:sp>
        <p:nvSpPr>
          <p:cNvPr id="26" name="Text 24"/>
          <p:cNvSpPr/>
          <p:nvPr/>
        </p:nvSpPr>
        <p:spPr>
          <a:xfrm>
            <a:off x="6858000" y="4572000"/>
            <a:ext cx="3840480" cy="914400"/>
          </a:xfrm>
          <a:prstGeom prst="rect">
            <a:avLst/>
          </a:prstGeom>
          <a:noFill/>
          <a:ln/>
        </p:spPr>
        <p:txBody>
          <a:bodyPr wrap="square" rtlCol="0" anchor="ctr"/>
          <a:lstStyle/>
          <a:p>
            <a:pPr indent="0" marL="0">
              <a:lnSpc>
                <a:spcPts val="1600"/>
              </a:lnSpc>
              <a:buNone/>
            </a:pPr>
            <a:r>
              <a:rPr lang="en-US" sz="1100" dirty="0">
                <a:solidFill>
                  <a:srgbClr val="64748B"/>
                </a:solidFill>
              </a:rPr>
              <a:t>Generic classifieds (OLX, Facebook groups) are cluttered with spam, lack academic categorization, and lack student-safe verification.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57200"/>
            <a:ext cx="2377440" cy="320040"/>
          </a:xfrm>
          <a:prstGeom prst="roundRect">
            <a:avLst>
              <a:gd name="adj" fmla="val 28571"/>
            </a:avLst>
          </a:prstGeom>
          <a:solidFill>
            <a:srgbClr val="EFF6FF"/>
          </a:solidFill>
          <a:ln w="12700">
            <a:solidFill>
              <a:srgbClr val="BFDBFE"/>
            </a:solidFill>
            <a:prstDash val="solid"/>
          </a:ln>
        </p:spPr>
      </p:sp>
      <p:sp>
        <p:nvSpPr>
          <p:cNvPr id="3" name="Text 1"/>
          <p:cNvSpPr/>
          <p:nvPr/>
        </p:nvSpPr>
        <p:spPr>
          <a:xfrm>
            <a:off x="731520" y="457200"/>
            <a:ext cx="2377440" cy="320040"/>
          </a:xfrm>
          <a:prstGeom prst="rect">
            <a:avLst/>
          </a:prstGeom>
          <a:noFill/>
          <a:ln/>
        </p:spPr>
        <p:txBody>
          <a:bodyPr wrap="square" rtlCol="0" anchor="ctr"/>
          <a:lstStyle/>
          <a:p>
            <a:pPr algn="ctr" indent="0" marL="0">
              <a:buNone/>
            </a:pPr>
            <a:r>
              <a:rPr lang="en-US" sz="900" b="1" dirty="0">
                <a:solidFill>
                  <a:srgbClr val="2563EB"/>
                </a:solidFill>
              </a:rPr>
              <a:t>OUR VALUE PROPOSITION</a:t>
            </a:r>
            <a:endParaRPr lang="en-US" sz="9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The Solution: BookLoop Peer-to-Peer Marketplace</a:t>
            </a:r>
            <a:endParaRPr lang="en-US" sz="2200" dirty="0"/>
          </a:p>
        </p:txBody>
      </p:sp>
      <p:sp>
        <p:nvSpPr>
          <p:cNvPr id="5" name="Shape 3"/>
          <p:cNvSpPr/>
          <p:nvPr/>
        </p:nvSpPr>
        <p:spPr>
          <a:xfrm>
            <a:off x="0" y="0"/>
            <a:ext cx="9144000" cy="73152"/>
          </a:xfrm>
          <a:prstGeom prst="rect">
            <a:avLst/>
          </a:prstGeom>
          <a:solidFill>
            <a:srgbClr val="2563EB"/>
          </a:solidFill>
          <a:ln/>
        </p:spPr>
      </p:sp>
      <p:sp>
        <p:nvSpPr>
          <p:cNvPr id="6" name="Text 4"/>
          <p:cNvSpPr/>
          <p:nvPr/>
        </p:nvSpPr>
        <p:spPr>
          <a:xfrm>
            <a:off x="731520" y="6400800"/>
            <a:ext cx="4572000" cy="274320"/>
          </a:xfrm>
          <a:prstGeom prst="rect">
            <a:avLst/>
          </a:prstGeom>
          <a:noFill/>
          <a:ln/>
        </p:spPr>
        <p:txBody>
          <a:bodyPr wrap="square" rtlCol="0" anchor="ctr"/>
          <a:lstStyle/>
          <a:p>
            <a:pPr indent="0" marL="0">
              <a:buNone/>
            </a:pPr>
            <a:r>
              <a:rPr lang="en-US" sz="900" dirty="0">
                <a:solidFill>
                  <a:srgbClr val="64748B"/>
                </a:solidFill>
              </a:rPr>
              <a:t>BookLoop  |  Read More. Spend Less.</a:t>
            </a:r>
            <a:endParaRPr lang="en-US" sz="900" dirty="0"/>
          </a:p>
        </p:txBody>
      </p:sp>
      <p:sp>
        <p:nvSpPr>
          <p:cNvPr id="7" name="Shape 5"/>
          <p:cNvSpPr/>
          <p:nvPr/>
        </p:nvSpPr>
        <p:spPr>
          <a:xfrm>
            <a:off x="731520" y="1645920"/>
            <a:ext cx="10424160" cy="914400"/>
          </a:xfrm>
          <a:prstGeom prst="roundRect">
            <a:avLst>
              <a:gd name="adj" fmla="val 15000"/>
            </a:avLst>
          </a:prstGeom>
          <a:solidFill>
            <a:srgbClr val="EFF6FF"/>
          </a:solidFill>
          <a:ln w="12700">
            <a:solidFill>
              <a:srgbClr val="BFDBFE"/>
            </a:solidFill>
            <a:prstDash val="solid"/>
          </a:ln>
        </p:spPr>
      </p:sp>
      <p:sp>
        <p:nvSpPr>
          <p:cNvPr id="8" name="Text 6"/>
          <p:cNvSpPr/>
          <p:nvPr/>
        </p:nvSpPr>
        <p:spPr>
          <a:xfrm>
            <a:off x="1005840" y="1737360"/>
            <a:ext cx="9875520" cy="731520"/>
          </a:xfrm>
          <a:prstGeom prst="rect">
            <a:avLst/>
          </a:prstGeom>
          <a:noFill/>
          <a:ln/>
        </p:spPr>
        <p:txBody>
          <a:bodyPr wrap="square" rtlCol="0" anchor="ctr"/>
          <a:lstStyle/>
          <a:p>
            <a:pPr indent="0" marL="0">
              <a:lnSpc>
                <a:spcPts val="1800"/>
              </a:lnSpc>
              <a:buNone/>
            </a:pPr>
            <a:r>
              <a:rPr lang="en-US" sz="1250" b="1" dirty="0">
                <a:solidFill>
                  <a:srgbClr val="1E3A8A"/>
                </a:solidFill>
              </a:rPr>
              <a:t>BookLoop connects junior students with senior peers to exchange semester books, topper notes, and exam papers directly at pocket-friendly Indian Rupee (₹) rates with ZERO middleman fees.</a:t>
            </a:r>
            <a:endParaRPr lang="en-US" sz="1250" dirty="0"/>
          </a:p>
        </p:txBody>
      </p:sp>
      <p:sp>
        <p:nvSpPr>
          <p:cNvPr id="9" name="Shape 7"/>
          <p:cNvSpPr/>
          <p:nvPr/>
        </p:nvSpPr>
        <p:spPr>
          <a:xfrm>
            <a:off x="731520" y="2834640"/>
            <a:ext cx="3291840" cy="3200400"/>
          </a:xfrm>
          <a:prstGeom prst="roundRect">
            <a:avLst>
              <a:gd name="adj" fmla="val 4286"/>
            </a:avLst>
          </a:prstGeom>
          <a:solidFill>
            <a:srgbClr val="FFFFFF"/>
          </a:solidFill>
          <a:ln w="19050">
            <a:solidFill>
              <a:srgbClr val="2563EB"/>
            </a:solidFill>
            <a:prstDash val="solid"/>
          </a:ln>
        </p:spPr>
      </p:sp>
      <p:sp>
        <p:nvSpPr>
          <p:cNvPr id="10" name="Text 8"/>
          <p:cNvSpPr/>
          <p:nvPr/>
        </p:nvSpPr>
        <p:spPr>
          <a:xfrm>
            <a:off x="1005840" y="3017520"/>
            <a:ext cx="2743200" cy="640080"/>
          </a:xfrm>
          <a:prstGeom prst="rect">
            <a:avLst/>
          </a:prstGeom>
          <a:noFill/>
          <a:ln/>
        </p:spPr>
        <p:txBody>
          <a:bodyPr wrap="square" rtlCol="0" anchor="ctr"/>
          <a:lstStyle/>
          <a:p>
            <a:pPr indent="0" marL="0">
              <a:buNone/>
            </a:pPr>
            <a:r>
              <a:rPr lang="en-US" sz="1400" b="1" dirty="0">
                <a:solidFill>
                  <a:srgbClr val="1E293B"/>
                </a:solidFill>
              </a:rPr>
              <a:t>70% Savings for Buyers</a:t>
            </a:r>
            <a:endParaRPr lang="en-US" sz="1400" dirty="0"/>
          </a:p>
        </p:txBody>
      </p:sp>
      <p:sp>
        <p:nvSpPr>
          <p:cNvPr id="11" name="Shape 9"/>
          <p:cNvSpPr/>
          <p:nvPr/>
        </p:nvSpPr>
        <p:spPr>
          <a:xfrm>
            <a:off x="1051560" y="3840480"/>
            <a:ext cx="109728" cy="109728"/>
          </a:xfrm>
          <a:prstGeom prst="ellipse">
            <a:avLst/>
          </a:prstGeom>
          <a:solidFill>
            <a:srgbClr val="2563EB"/>
          </a:solidFill>
          <a:ln/>
        </p:spPr>
      </p:sp>
      <p:sp>
        <p:nvSpPr>
          <p:cNvPr id="12" name="Text 10"/>
          <p:cNvSpPr/>
          <p:nvPr/>
        </p:nvSpPr>
        <p:spPr>
          <a:xfrm>
            <a:off x="1234440" y="3749040"/>
            <a:ext cx="2560320" cy="594360"/>
          </a:xfrm>
          <a:prstGeom prst="rect">
            <a:avLst/>
          </a:prstGeom>
          <a:noFill/>
          <a:ln/>
        </p:spPr>
        <p:txBody>
          <a:bodyPr wrap="square" rtlCol="0" anchor="ctr"/>
          <a:lstStyle/>
          <a:p>
            <a:pPr indent="0" marL="0">
              <a:buNone/>
            </a:pPr>
            <a:r>
              <a:rPr lang="en-US" sz="1100" dirty="0">
                <a:solidFill>
                  <a:srgbClr val="64748B"/>
                </a:solidFill>
              </a:rPr>
              <a:t>Real INR (₹) rates</a:t>
            </a:r>
            <a:endParaRPr lang="en-US" sz="1100" dirty="0"/>
          </a:p>
        </p:txBody>
      </p:sp>
      <p:sp>
        <p:nvSpPr>
          <p:cNvPr id="13" name="Shape 11"/>
          <p:cNvSpPr/>
          <p:nvPr/>
        </p:nvSpPr>
        <p:spPr>
          <a:xfrm>
            <a:off x="1051560" y="4526280"/>
            <a:ext cx="109728" cy="109728"/>
          </a:xfrm>
          <a:prstGeom prst="ellipse">
            <a:avLst/>
          </a:prstGeom>
          <a:solidFill>
            <a:srgbClr val="2563EB"/>
          </a:solidFill>
          <a:ln/>
        </p:spPr>
      </p:sp>
      <p:sp>
        <p:nvSpPr>
          <p:cNvPr id="14" name="Text 12"/>
          <p:cNvSpPr/>
          <p:nvPr/>
        </p:nvSpPr>
        <p:spPr>
          <a:xfrm>
            <a:off x="1234440" y="4434840"/>
            <a:ext cx="2560320" cy="594360"/>
          </a:xfrm>
          <a:prstGeom prst="rect">
            <a:avLst/>
          </a:prstGeom>
          <a:noFill/>
          <a:ln/>
        </p:spPr>
        <p:txBody>
          <a:bodyPr wrap="square" rtlCol="0" anchor="ctr"/>
          <a:lstStyle/>
          <a:p>
            <a:pPr indent="0" marL="0">
              <a:buNone/>
            </a:pPr>
            <a:r>
              <a:rPr lang="en-US" sz="1100" dirty="0">
                <a:solidFill>
                  <a:srgbClr val="64748B"/>
                </a:solidFill>
              </a:rPr>
              <a:t>Compare against original MRP</a:t>
            </a:r>
            <a:endParaRPr lang="en-US" sz="1100" dirty="0"/>
          </a:p>
        </p:txBody>
      </p:sp>
      <p:sp>
        <p:nvSpPr>
          <p:cNvPr id="15" name="Shape 13"/>
          <p:cNvSpPr/>
          <p:nvPr/>
        </p:nvSpPr>
        <p:spPr>
          <a:xfrm>
            <a:off x="1051560" y="5212080"/>
            <a:ext cx="109728" cy="109728"/>
          </a:xfrm>
          <a:prstGeom prst="ellipse">
            <a:avLst/>
          </a:prstGeom>
          <a:solidFill>
            <a:srgbClr val="2563EB"/>
          </a:solidFill>
          <a:ln/>
        </p:spPr>
      </p:sp>
      <p:sp>
        <p:nvSpPr>
          <p:cNvPr id="16" name="Text 14"/>
          <p:cNvSpPr/>
          <p:nvPr/>
        </p:nvSpPr>
        <p:spPr>
          <a:xfrm>
            <a:off x="1234440" y="5120640"/>
            <a:ext cx="2560320" cy="594360"/>
          </a:xfrm>
          <a:prstGeom prst="rect">
            <a:avLst/>
          </a:prstGeom>
          <a:noFill/>
          <a:ln/>
        </p:spPr>
        <p:txBody>
          <a:bodyPr wrap="square" rtlCol="0" anchor="ctr"/>
          <a:lstStyle/>
          <a:p>
            <a:pPr indent="0" marL="0">
              <a:buNone/>
            </a:pPr>
            <a:r>
              <a:rPr lang="en-US" sz="1100" dirty="0">
                <a:solidFill>
                  <a:srgbClr val="64748B"/>
                </a:solidFill>
              </a:rPr>
              <a:t>Affordable access to expensive tomes</a:t>
            </a:r>
            <a:endParaRPr lang="en-US" sz="1100" dirty="0"/>
          </a:p>
        </p:txBody>
      </p:sp>
      <p:sp>
        <p:nvSpPr>
          <p:cNvPr id="17" name="Shape 15"/>
          <p:cNvSpPr/>
          <p:nvPr/>
        </p:nvSpPr>
        <p:spPr>
          <a:xfrm>
            <a:off x="4297680" y="2834640"/>
            <a:ext cx="3291840" cy="3200400"/>
          </a:xfrm>
          <a:prstGeom prst="roundRect">
            <a:avLst>
              <a:gd name="adj" fmla="val 4286"/>
            </a:avLst>
          </a:prstGeom>
          <a:solidFill>
            <a:srgbClr val="FFFFFF"/>
          </a:solidFill>
          <a:ln w="19050">
            <a:solidFill>
              <a:srgbClr val="F97316"/>
            </a:solidFill>
            <a:prstDash val="solid"/>
          </a:ln>
        </p:spPr>
      </p:sp>
      <p:sp>
        <p:nvSpPr>
          <p:cNvPr id="18" name="Text 16"/>
          <p:cNvSpPr/>
          <p:nvPr/>
        </p:nvSpPr>
        <p:spPr>
          <a:xfrm>
            <a:off x="4572000" y="3017520"/>
            <a:ext cx="2743200" cy="640080"/>
          </a:xfrm>
          <a:prstGeom prst="rect">
            <a:avLst/>
          </a:prstGeom>
          <a:noFill/>
          <a:ln/>
        </p:spPr>
        <p:txBody>
          <a:bodyPr wrap="square" rtlCol="0" anchor="ctr"/>
          <a:lstStyle/>
          <a:p>
            <a:pPr indent="0" marL="0">
              <a:buNone/>
            </a:pPr>
            <a:r>
              <a:rPr lang="en-US" sz="1400" b="1" dirty="0">
                <a:solidFill>
                  <a:srgbClr val="1E293B"/>
                </a:solidFill>
              </a:rPr>
              <a:t>Direct Monetization for Seniors</a:t>
            </a:r>
            <a:endParaRPr lang="en-US" sz="1400" dirty="0"/>
          </a:p>
        </p:txBody>
      </p:sp>
      <p:sp>
        <p:nvSpPr>
          <p:cNvPr id="19" name="Shape 17"/>
          <p:cNvSpPr/>
          <p:nvPr/>
        </p:nvSpPr>
        <p:spPr>
          <a:xfrm>
            <a:off x="4617720" y="3840480"/>
            <a:ext cx="109728" cy="109728"/>
          </a:xfrm>
          <a:prstGeom prst="ellipse">
            <a:avLst/>
          </a:prstGeom>
          <a:solidFill>
            <a:srgbClr val="2563EB"/>
          </a:solidFill>
          <a:ln/>
        </p:spPr>
      </p:sp>
      <p:sp>
        <p:nvSpPr>
          <p:cNvPr id="20" name="Text 18"/>
          <p:cNvSpPr/>
          <p:nvPr/>
        </p:nvSpPr>
        <p:spPr>
          <a:xfrm>
            <a:off x="4800600" y="3749040"/>
            <a:ext cx="2560320" cy="594360"/>
          </a:xfrm>
          <a:prstGeom prst="rect">
            <a:avLst/>
          </a:prstGeom>
          <a:noFill/>
          <a:ln/>
        </p:spPr>
        <p:txBody>
          <a:bodyPr wrap="square" rtlCol="0" anchor="ctr"/>
          <a:lstStyle/>
          <a:p>
            <a:pPr indent="0" marL="0">
              <a:buNone/>
            </a:pPr>
            <a:r>
              <a:rPr lang="en-US" sz="1100" dirty="0">
                <a:solidFill>
                  <a:srgbClr val="64748B"/>
                </a:solidFill>
              </a:rPr>
              <a:t>List in 2 minutes</a:t>
            </a:r>
            <a:endParaRPr lang="en-US" sz="1100" dirty="0"/>
          </a:p>
        </p:txBody>
      </p:sp>
      <p:sp>
        <p:nvSpPr>
          <p:cNvPr id="21" name="Shape 19"/>
          <p:cNvSpPr/>
          <p:nvPr/>
        </p:nvSpPr>
        <p:spPr>
          <a:xfrm>
            <a:off x="4617720" y="4526280"/>
            <a:ext cx="109728" cy="109728"/>
          </a:xfrm>
          <a:prstGeom prst="ellipse">
            <a:avLst/>
          </a:prstGeom>
          <a:solidFill>
            <a:srgbClr val="2563EB"/>
          </a:solidFill>
          <a:ln/>
        </p:spPr>
      </p:sp>
      <p:sp>
        <p:nvSpPr>
          <p:cNvPr id="22" name="Text 20"/>
          <p:cNvSpPr/>
          <p:nvPr/>
        </p:nvSpPr>
        <p:spPr>
          <a:xfrm>
            <a:off x="4800600" y="4434840"/>
            <a:ext cx="2560320" cy="594360"/>
          </a:xfrm>
          <a:prstGeom prst="rect">
            <a:avLst/>
          </a:prstGeom>
          <a:noFill/>
          <a:ln/>
        </p:spPr>
        <p:txBody>
          <a:bodyPr wrap="square" rtlCol="0" anchor="ctr"/>
          <a:lstStyle/>
          <a:p>
            <a:pPr indent="0" marL="0">
              <a:buNone/>
            </a:pPr>
            <a:r>
              <a:rPr lang="en-US" sz="1100" dirty="0">
                <a:solidFill>
                  <a:srgbClr val="64748B"/>
                </a:solidFill>
              </a:rPr>
              <a:t>Recovers 50-70% of book investment</a:t>
            </a:r>
            <a:endParaRPr lang="en-US" sz="1100" dirty="0"/>
          </a:p>
        </p:txBody>
      </p:sp>
      <p:sp>
        <p:nvSpPr>
          <p:cNvPr id="23" name="Shape 21"/>
          <p:cNvSpPr/>
          <p:nvPr/>
        </p:nvSpPr>
        <p:spPr>
          <a:xfrm>
            <a:off x="4617720" y="5212080"/>
            <a:ext cx="109728" cy="109728"/>
          </a:xfrm>
          <a:prstGeom prst="ellipse">
            <a:avLst/>
          </a:prstGeom>
          <a:solidFill>
            <a:srgbClr val="2563EB"/>
          </a:solidFill>
          <a:ln/>
        </p:spPr>
      </p:sp>
      <p:sp>
        <p:nvSpPr>
          <p:cNvPr id="24" name="Text 22"/>
          <p:cNvSpPr/>
          <p:nvPr/>
        </p:nvSpPr>
        <p:spPr>
          <a:xfrm>
            <a:off x="4800600" y="5120640"/>
            <a:ext cx="2560320" cy="594360"/>
          </a:xfrm>
          <a:prstGeom prst="rect">
            <a:avLst/>
          </a:prstGeom>
          <a:noFill/>
          <a:ln/>
        </p:spPr>
        <p:txBody>
          <a:bodyPr wrap="square" rtlCol="0" anchor="ctr"/>
          <a:lstStyle/>
          <a:p>
            <a:pPr indent="0" marL="0">
              <a:buNone/>
            </a:pPr>
            <a:r>
              <a:rPr lang="en-US" sz="1100" dirty="0">
                <a:solidFill>
                  <a:srgbClr val="64748B"/>
                </a:solidFill>
              </a:rPr>
              <a:t>Helpful pass-down to junior batches</a:t>
            </a:r>
            <a:endParaRPr lang="en-US" sz="1100" dirty="0"/>
          </a:p>
        </p:txBody>
      </p:sp>
      <p:sp>
        <p:nvSpPr>
          <p:cNvPr id="25" name="Shape 23"/>
          <p:cNvSpPr/>
          <p:nvPr/>
        </p:nvSpPr>
        <p:spPr>
          <a:xfrm>
            <a:off x="7863840" y="2834640"/>
            <a:ext cx="3291840" cy="3200400"/>
          </a:xfrm>
          <a:prstGeom prst="roundRect">
            <a:avLst>
              <a:gd name="adj" fmla="val 4286"/>
            </a:avLst>
          </a:prstGeom>
          <a:solidFill>
            <a:srgbClr val="FFFFFF"/>
          </a:solidFill>
          <a:ln w="19050">
            <a:solidFill>
              <a:srgbClr val="2563EB"/>
            </a:solidFill>
            <a:prstDash val="solid"/>
          </a:ln>
        </p:spPr>
      </p:sp>
      <p:sp>
        <p:nvSpPr>
          <p:cNvPr id="26" name="Text 24"/>
          <p:cNvSpPr/>
          <p:nvPr/>
        </p:nvSpPr>
        <p:spPr>
          <a:xfrm>
            <a:off x="8138160" y="3017520"/>
            <a:ext cx="2743200" cy="640080"/>
          </a:xfrm>
          <a:prstGeom prst="rect">
            <a:avLst/>
          </a:prstGeom>
          <a:noFill/>
          <a:ln/>
        </p:spPr>
        <p:txBody>
          <a:bodyPr wrap="square" rtlCol="0" anchor="ctr"/>
          <a:lstStyle/>
          <a:p>
            <a:pPr indent="0" marL="0">
              <a:buNone/>
            </a:pPr>
            <a:r>
              <a:rPr lang="en-US" sz="1400" b="1" dirty="0">
                <a:solidFill>
                  <a:srgbClr val="1E293B"/>
                </a:solidFill>
              </a:rPr>
              <a:t>Transparent Quality Ratings</a:t>
            </a:r>
            <a:endParaRPr lang="en-US" sz="1400" dirty="0"/>
          </a:p>
        </p:txBody>
      </p:sp>
      <p:sp>
        <p:nvSpPr>
          <p:cNvPr id="27" name="Shape 25"/>
          <p:cNvSpPr/>
          <p:nvPr/>
        </p:nvSpPr>
        <p:spPr>
          <a:xfrm>
            <a:off x="8183880" y="3840480"/>
            <a:ext cx="109728" cy="109728"/>
          </a:xfrm>
          <a:prstGeom prst="ellipse">
            <a:avLst/>
          </a:prstGeom>
          <a:solidFill>
            <a:srgbClr val="2563EB"/>
          </a:solidFill>
          <a:ln/>
        </p:spPr>
      </p:sp>
      <p:sp>
        <p:nvSpPr>
          <p:cNvPr id="28" name="Text 26"/>
          <p:cNvSpPr/>
          <p:nvPr/>
        </p:nvSpPr>
        <p:spPr>
          <a:xfrm>
            <a:off x="8366760" y="3749040"/>
            <a:ext cx="2560320" cy="594360"/>
          </a:xfrm>
          <a:prstGeom prst="rect">
            <a:avLst/>
          </a:prstGeom>
          <a:noFill/>
          <a:ln/>
        </p:spPr>
        <p:txBody>
          <a:bodyPr wrap="square" rtlCol="0" anchor="ctr"/>
          <a:lstStyle/>
          <a:p>
            <a:pPr indent="0" marL="0">
              <a:buNone/>
            </a:pPr>
            <a:r>
              <a:rPr lang="en-US" sz="1100" dirty="0">
                <a:solidFill>
                  <a:srgbClr val="64748B"/>
                </a:solidFill>
              </a:rPr>
              <a:t>Like New, Good, Acceptable badges</a:t>
            </a:r>
            <a:endParaRPr lang="en-US" sz="1100" dirty="0"/>
          </a:p>
        </p:txBody>
      </p:sp>
      <p:sp>
        <p:nvSpPr>
          <p:cNvPr id="29" name="Shape 27"/>
          <p:cNvSpPr/>
          <p:nvPr/>
        </p:nvSpPr>
        <p:spPr>
          <a:xfrm>
            <a:off x="8183880" y="4526280"/>
            <a:ext cx="109728" cy="109728"/>
          </a:xfrm>
          <a:prstGeom prst="ellipse">
            <a:avLst/>
          </a:prstGeom>
          <a:solidFill>
            <a:srgbClr val="2563EB"/>
          </a:solidFill>
          <a:ln/>
        </p:spPr>
      </p:sp>
      <p:sp>
        <p:nvSpPr>
          <p:cNvPr id="30" name="Text 28"/>
          <p:cNvSpPr/>
          <p:nvPr/>
        </p:nvSpPr>
        <p:spPr>
          <a:xfrm>
            <a:off x="8366760" y="4434840"/>
            <a:ext cx="2560320" cy="594360"/>
          </a:xfrm>
          <a:prstGeom prst="rect">
            <a:avLst/>
          </a:prstGeom>
          <a:noFill/>
          <a:ln/>
        </p:spPr>
        <p:txBody>
          <a:bodyPr wrap="square" rtlCol="0" anchor="ctr"/>
          <a:lstStyle/>
          <a:p>
            <a:pPr indent="0" marL="0">
              <a:buNone/>
            </a:pPr>
            <a:r>
              <a:rPr lang="en-US" sz="1100" dirty="0">
                <a:solidFill>
                  <a:srgbClr val="64748B"/>
                </a:solidFill>
              </a:rPr>
              <a:t>Detailed wear &amp; highlighter notes</a:t>
            </a:r>
            <a:endParaRPr lang="en-US" sz="1100" dirty="0"/>
          </a:p>
        </p:txBody>
      </p:sp>
      <p:sp>
        <p:nvSpPr>
          <p:cNvPr id="31" name="Shape 29"/>
          <p:cNvSpPr/>
          <p:nvPr/>
        </p:nvSpPr>
        <p:spPr>
          <a:xfrm>
            <a:off x="8183880" y="5212080"/>
            <a:ext cx="109728" cy="109728"/>
          </a:xfrm>
          <a:prstGeom prst="ellipse">
            <a:avLst/>
          </a:prstGeom>
          <a:solidFill>
            <a:srgbClr val="2563EB"/>
          </a:solidFill>
          <a:ln/>
        </p:spPr>
      </p:sp>
      <p:sp>
        <p:nvSpPr>
          <p:cNvPr id="32" name="Text 30"/>
          <p:cNvSpPr/>
          <p:nvPr/>
        </p:nvSpPr>
        <p:spPr>
          <a:xfrm>
            <a:off x="8366760" y="5120640"/>
            <a:ext cx="2560320" cy="594360"/>
          </a:xfrm>
          <a:prstGeom prst="rect">
            <a:avLst/>
          </a:prstGeom>
          <a:noFill/>
          <a:ln/>
        </p:spPr>
        <p:txBody>
          <a:bodyPr wrap="square" rtlCol="0" anchor="ctr"/>
          <a:lstStyle/>
          <a:p>
            <a:pPr indent="0" marL="0">
              <a:buNone/>
            </a:pPr>
            <a:r>
              <a:rPr lang="en-US" sz="1100" dirty="0">
                <a:solidFill>
                  <a:srgbClr val="64748B"/>
                </a:solidFill>
              </a:rPr>
              <a:t>Student-inspected condition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57200"/>
            <a:ext cx="2377440" cy="320040"/>
          </a:xfrm>
          <a:prstGeom prst="roundRect">
            <a:avLst>
              <a:gd name="adj" fmla="val 28571"/>
            </a:avLst>
          </a:prstGeom>
          <a:solidFill>
            <a:srgbClr val="EFF6FF"/>
          </a:solidFill>
          <a:ln w="12700">
            <a:solidFill>
              <a:srgbClr val="BFDBFE"/>
            </a:solidFill>
            <a:prstDash val="solid"/>
          </a:ln>
        </p:spPr>
      </p:sp>
      <p:sp>
        <p:nvSpPr>
          <p:cNvPr id="3" name="Text 1"/>
          <p:cNvSpPr/>
          <p:nvPr/>
        </p:nvSpPr>
        <p:spPr>
          <a:xfrm>
            <a:off x="731520" y="457200"/>
            <a:ext cx="2377440" cy="320040"/>
          </a:xfrm>
          <a:prstGeom prst="rect">
            <a:avLst/>
          </a:prstGeom>
          <a:noFill/>
          <a:ln/>
        </p:spPr>
        <p:txBody>
          <a:bodyPr wrap="square" rtlCol="0" anchor="ctr"/>
          <a:lstStyle/>
          <a:p>
            <a:pPr algn="ctr" indent="0" marL="0">
              <a:buNone/>
            </a:pPr>
            <a:r>
              <a:rPr lang="en-US" sz="900" b="1" dirty="0">
                <a:solidFill>
                  <a:srgbClr val="2563EB"/>
                </a:solidFill>
              </a:rPr>
              <a:t>MARKET OPPORTUNITY</a:t>
            </a:r>
            <a:endParaRPr lang="en-US" sz="9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Target Audience &amp; Academic Segments</a:t>
            </a:r>
            <a:endParaRPr lang="en-US" sz="2200" dirty="0"/>
          </a:p>
        </p:txBody>
      </p:sp>
      <p:sp>
        <p:nvSpPr>
          <p:cNvPr id="5" name="Shape 3"/>
          <p:cNvSpPr/>
          <p:nvPr/>
        </p:nvSpPr>
        <p:spPr>
          <a:xfrm>
            <a:off x="0" y="0"/>
            <a:ext cx="9144000" cy="73152"/>
          </a:xfrm>
          <a:prstGeom prst="rect">
            <a:avLst/>
          </a:prstGeom>
          <a:solidFill>
            <a:srgbClr val="2563EB"/>
          </a:solidFill>
          <a:ln/>
        </p:spPr>
      </p:sp>
      <p:sp>
        <p:nvSpPr>
          <p:cNvPr id="6" name="Text 4"/>
          <p:cNvSpPr/>
          <p:nvPr/>
        </p:nvSpPr>
        <p:spPr>
          <a:xfrm>
            <a:off x="731520" y="6400800"/>
            <a:ext cx="4572000" cy="274320"/>
          </a:xfrm>
          <a:prstGeom prst="rect">
            <a:avLst/>
          </a:prstGeom>
          <a:noFill/>
          <a:ln/>
        </p:spPr>
        <p:txBody>
          <a:bodyPr wrap="square" rtlCol="0" anchor="ctr"/>
          <a:lstStyle/>
          <a:p>
            <a:pPr indent="0" marL="0">
              <a:buNone/>
            </a:pPr>
            <a:r>
              <a:rPr lang="en-US" sz="900" dirty="0">
                <a:solidFill>
                  <a:srgbClr val="64748B"/>
                </a:solidFill>
              </a:rPr>
              <a:t>BookLoop  |  Read More. Spend Less.</a:t>
            </a:r>
            <a:endParaRPr lang="en-US" sz="900" dirty="0"/>
          </a:p>
        </p:txBody>
      </p:sp>
      <p:sp>
        <p:nvSpPr>
          <p:cNvPr id="7" name="Shape 5"/>
          <p:cNvSpPr/>
          <p:nvPr/>
        </p:nvSpPr>
        <p:spPr>
          <a:xfrm>
            <a:off x="731520" y="1737360"/>
            <a:ext cx="3291840" cy="1920240"/>
          </a:xfrm>
          <a:prstGeom prst="roundRect">
            <a:avLst>
              <a:gd name="adj" fmla="val 7143"/>
            </a:avLst>
          </a:prstGeom>
          <a:solidFill>
            <a:srgbClr val="FFFFFF"/>
          </a:solidFill>
          <a:ln w="12700">
            <a:solidFill>
              <a:srgbClr val="E2E8F0"/>
            </a:solidFill>
            <a:prstDash val="solid"/>
          </a:ln>
        </p:spPr>
      </p:sp>
      <p:sp>
        <p:nvSpPr>
          <p:cNvPr id="8" name="Text 6"/>
          <p:cNvSpPr/>
          <p:nvPr/>
        </p:nvSpPr>
        <p:spPr>
          <a:xfrm>
            <a:off x="1005840" y="1920240"/>
            <a:ext cx="2743200" cy="365760"/>
          </a:xfrm>
          <a:prstGeom prst="rect">
            <a:avLst/>
          </a:prstGeom>
          <a:noFill/>
          <a:ln/>
        </p:spPr>
        <p:txBody>
          <a:bodyPr wrap="square" rtlCol="0" anchor="ctr"/>
          <a:lstStyle/>
          <a:p>
            <a:pPr indent="0" marL="0">
              <a:buNone/>
            </a:pPr>
            <a:r>
              <a:rPr lang="en-US" sz="1300" b="1" dirty="0">
                <a:solidFill>
                  <a:srgbClr val="2563EB"/>
                </a:solidFill>
              </a:rPr>
              <a:t>Engineering &amp; Tech</a:t>
            </a:r>
            <a:endParaRPr lang="en-US" sz="1300" dirty="0"/>
          </a:p>
        </p:txBody>
      </p:sp>
      <p:sp>
        <p:nvSpPr>
          <p:cNvPr id="9" name="Text 7"/>
          <p:cNvSpPr/>
          <p:nvPr/>
        </p:nvSpPr>
        <p:spPr>
          <a:xfrm>
            <a:off x="1005840" y="2331720"/>
            <a:ext cx="2743200" cy="365760"/>
          </a:xfrm>
          <a:prstGeom prst="rect">
            <a:avLst/>
          </a:prstGeom>
          <a:noFill/>
          <a:ln/>
        </p:spPr>
        <p:txBody>
          <a:bodyPr wrap="square" rtlCol="0" anchor="ctr"/>
          <a:lstStyle/>
          <a:p>
            <a:pPr indent="0" marL="0">
              <a:buNone/>
            </a:pPr>
            <a:r>
              <a:rPr lang="en-US" sz="1050" b="1" dirty="0">
                <a:solidFill>
                  <a:srgbClr val="1E293B"/>
                </a:solidFill>
              </a:rPr>
              <a:t>Target: B.Tech / B.E. / Diploma Students</a:t>
            </a:r>
            <a:endParaRPr lang="en-US" sz="1050" dirty="0"/>
          </a:p>
        </p:txBody>
      </p:sp>
      <p:sp>
        <p:nvSpPr>
          <p:cNvPr id="10" name="Text 8"/>
          <p:cNvSpPr/>
          <p:nvPr/>
        </p:nvSpPr>
        <p:spPr>
          <a:xfrm>
            <a:off x="1005840" y="2743200"/>
            <a:ext cx="2743200" cy="731520"/>
          </a:xfrm>
          <a:prstGeom prst="rect">
            <a:avLst/>
          </a:prstGeom>
          <a:noFill/>
          <a:ln/>
        </p:spPr>
        <p:txBody>
          <a:bodyPr wrap="square" rtlCol="0" anchor="ctr"/>
          <a:lstStyle/>
          <a:p>
            <a:pPr indent="0" marL="0">
              <a:buNone/>
            </a:pPr>
            <a:r>
              <a:rPr lang="en-US" sz="1000" dirty="0">
                <a:solidFill>
                  <a:srgbClr val="64748B"/>
                </a:solidFill>
              </a:rPr>
              <a:t>Popular: CLRS, B.S. Grewal, Oppenheim Signals</a:t>
            </a:r>
            <a:endParaRPr lang="en-US" sz="1000" dirty="0"/>
          </a:p>
        </p:txBody>
      </p:sp>
      <p:sp>
        <p:nvSpPr>
          <p:cNvPr id="11" name="Shape 9"/>
          <p:cNvSpPr/>
          <p:nvPr/>
        </p:nvSpPr>
        <p:spPr>
          <a:xfrm>
            <a:off x="4297680" y="1737360"/>
            <a:ext cx="3291840" cy="1920240"/>
          </a:xfrm>
          <a:prstGeom prst="roundRect">
            <a:avLst>
              <a:gd name="adj" fmla="val 7143"/>
            </a:avLst>
          </a:prstGeom>
          <a:solidFill>
            <a:srgbClr val="FFFFFF"/>
          </a:solidFill>
          <a:ln w="12700">
            <a:solidFill>
              <a:srgbClr val="E2E8F0"/>
            </a:solidFill>
            <a:prstDash val="solid"/>
          </a:ln>
        </p:spPr>
      </p:sp>
      <p:sp>
        <p:nvSpPr>
          <p:cNvPr id="12" name="Text 10"/>
          <p:cNvSpPr/>
          <p:nvPr/>
        </p:nvSpPr>
        <p:spPr>
          <a:xfrm>
            <a:off x="4572000" y="1920240"/>
            <a:ext cx="2743200" cy="365760"/>
          </a:xfrm>
          <a:prstGeom prst="rect">
            <a:avLst/>
          </a:prstGeom>
          <a:noFill/>
          <a:ln/>
        </p:spPr>
        <p:txBody>
          <a:bodyPr wrap="square" rtlCol="0" anchor="ctr"/>
          <a:lstStyle/>
          <a:p>
            <a:pPr indent="0" marL="0">
              <a:buNone/>
            </a:pPr>
            <a:r>
              <a:rPr lang="en-US" sz="1300" b="1" dirty="0">
                <a:solidFill>
                  <a:srgbClr val="2563EB"/>
                </a:solidFill>
              </a:rPr>
              <a:t>Medical &amp; Dental</a:t>
            </a:r>
            <a:endParaRPr lang="en-US" sz="1300" dirty="0"/>
          </a:p>
        </p:txBody>
      </p:sp>
      <p:sp>
        <p:nvSpPr>
          <p:cNvPr id="13" name="Text 11"/>
          <p:cNvSpPr/>
          <p:nvPr/>
        </p:nvSpPr>
        <p:spPr>
          <a:xfrm>
            <a:off x="4572000" y="2331720"/>
            <a:ext cx="2743200" cy="365760"/>
          </a:xfrm>
          <a:prstGeom prst="rect">
            <a:avLst/>
          </a:prstGeom>
          <a:noFill/>
          <a:ln/>
        </p:spPr>
        <p:txBody>
          <a:bodyPr wrap="square" rtlCol="0" anchor="ctr"/>
          <a:lstStyle/>
          <a:p>
            <a:pPr indent="0" marL="0">
              <a:buNone/>
            </a:pPr>
            <a:r>
              <a:rPr lang="en-US" sz="1050" b="1" dirty="0">
                <a:solidFill>
                  <a:srgbClr val="1E293B"/>
                </a:solidFill>
              </a:rPr>
              <a:t>Target: MBBS, BDS, Nursing Aspirants</a:t>
            </a:r>
            <a:endParaRPr lang="en-US" sz="1050" dirty="0"/>
          </a:p>
        </p:txBody>
      </p:sp>
      <p:sp>
        <p:nvSpPr>
          <p:cNvPr id="14" name="Text 12"/>
          <p:cNvSpPr/>
          <p:nvPr/>
        </p:nvSpPr>
        <p:spPr>
          <a:xfrm>
            <a:off x="4572000" y="2743200"/>
            <a:ext cx="2743200" cy="731520"/>
          </a:xfrm>
          <a:prstGeom prst="rect">
            <a:avLst/>
          </a:prstGeom>
          <a:noFill/>
          <a:ln/>
        </p:spPr>
        <p:txBody>
          <a:bodyPr wrap="square" rtlCol="0" anchor="ctr"/>
          <a:lstStyle/>
          <a:p>
            <a:pPr indent="0" marL="0">
              <a:buNone/>
            </a:pPr>
            <a:r>
              <a:rPr lang="en-US" sz="1000" dirty="0">
                <a:solidFill>
                  <a:srgbClr val="64748B"/>
                </a:solidFill>
              </a:rPr>
              <a:t>Popular: Guyton Physiology, BD Chaurasia Anatomy</a:t>
            </a:r>
            <a:endParaRPr lang="en-US" sz="1000" dirty="0"/>
          </a:p>
        </p:txBody>
      </p:sp>
      <p:sp>
        <p:nvSpPr>
          <p:cNvPr id="15" name="Shape 13"/>
          <p:cNvSpPr/>
          <p:nvPr/>
        </p:nvSpPr>
        <p:spPr>
          <a:xfrm>
            <a:off x="7863840" y="1737360"/>
            <a:ext cx="3291840" cy="1920240"/>
          </a:xfrm>
          <a:prstGeom prst="roundRect">
            <a:avLst>
              <a:gd name="adj" fmla="val 7143"/>
            </a:avLst>
          </a:prstGeom>
          <a:solidFill>
            <a:srgbClr val="FFFFFF"/>
          </a:solidFill>
          <a:ln w="12700">
            <a:solidFill>
              <a:srgbClr val="E2E8F0"/>
            </a:solidFill>
            <a:prstDash val="solid"/>
          </a:ln>
        </p:spPr>
      </p:sp>
      <p:sp>
        <p:nvSpPr>
          <p:cNvPr id="16" name="Text 14"/>
          <p:cNvSpPr/>
          <p:nvPr/>
        </p:nvSpPr>
        <p:spPr>
          <a:xfrm>
            <a:off x="8138160" y="1920240"/>
            <a:ext cx="2743200" cy="365760"/>
          </a:xfrm>
          <a:prstGeom prst="rect">
            <a:avLst/>
          </a:prstGeom>
          <a:noFill/>
          <a:ln/>
        </p:spPr>
        <p:txBody>
          <a:bodyPr wrap="square" rtlCol="0" anchor="ctr"/>
          <a:lstStyle/>
          <a:p>
            <a:pPr indent="0" marL="0">
              <a:buNone/>
            </a:pPr>
            <a:r>
              <a:rPr lang="en-US" sz="1300" b="1" dirty="0">
                <a:solidFill>
                  <a:srgbClr val="2563EB"/>
                </a:solidFill>
              </a:rPr>
              <a:t>Commerce &amp; CA/CS</a:t>
            </a:r>
            <a:endParaRPr lang="en-US" sz="1300" dirty="0"/>
          </a:p>
        </p:txBody>
      </p:sp>
      <p:sp>
        <p:nvSpPr>
          <p:cNvPr id="17" name="Text 15"/>
          <p:cNvSpPr/>
          <p:nvPr/>
        </p:nvSpPr>
        <p:spPr>
          <a:xfrm>
            <a:off x="8138160" y="2331720"/>
            <a:ext cx="2743200" cy="365760"/>
          </a:xfrm>
          <a:prstGeom prst="rect">
            <a:avLst/>
          </a:prstGeom>
          <a:noFill/>
          <a:ln/>
        </p:spPr>
        <p:txBody>
          <a:bodyPr wrap="square" rtlCol="0" anchor="ctr"/>
          <a:lstStyle/>
          <a:p>
            <a:pPr indent="0" marL="0">
              <a:buNone/>
            </a:pPr>
            <a:r>
              <a:rPr lang="en-US" sz="1050" b="1" dirty="0">
                <a:solidFill>
                  <a:srgbClr val="1E293B"/>
                </a:solidFill>
              </a:rPr>
              <a:t>Target: B.Com, BBA, CA Foundation</a:t>
            </a:r>
            <a:endParaRPr lang="en-US" sz="1050" dirty="0"/>
          </a:p>
        </p:txBody>
      </p:sp>
      <p:sp>
        <p:nvSpPr>
          <p:cNvPr id="18" name="Text 16"/>
          <p:cNvSpPr/>
          <p:nvPr/>
        </p:nvSpPr>
        <p:spPr>
          <a:xfrm>
            <a:off x="8138160" y="2743200"/>
            <a:ext cx="2743200" cy="731520"/>
          </a:xfrm>
          <a:prstGeom prst="rect">
            <a:avLst/>
          </a:prstGeom>
          <a:noFill/>
          <a:ln/>
        </p:spPr>
        <p:txBody>
          <a:bodyPr wrap="square" rtlCol="0" anchor="ctr"/>
          <a:lstStyle/>
          <a:p>
            <a:pPr indent="0" marL="0">
              <a:buNone/>
            </a:pPr>
            <a:r>
              <a:rPr lang="en-US" sz="1000" dirty="0">
                <a:solidFill>
                  <a:srgbClr val="64748B"/>
                </a:solidFill>
              </a:rPr>
              <a:t>Popular: T.S. Grewal Accounting, Tax Laws</a:t>
            </a:r>
            <a:endParaRPr lang="en-US" sz="1000" dirty="0"/>
          </a:p>
        </p:txBody>
      </p:sp>
      <p:sp>
        <p:nvSpPr>
          <p:cNvPr id="19" name="Shape 17"/>
          <p:cNvSpPr/>
          <p:nvPr/>
        </p:nvSpPr>
        <p:spPr>
          <a:xfrm>
            <a:off x="731520" y="3931920"/>
            <a:ext cx="3291840" cy="1920240"/>
          </a:xfrm>
          <a:prstGeom prst="roundRect">
            <a:avLst>
              <a:gd name="adj" fmla="val 7143"/>
            </a:avLst>
          </a:prstGeom>
          <a:solidFill>
            <a:srgbClr val="FFFFFF"/>
          </a:solidFill>
          <a:ln w="12700">
            <a:solidFill>
              <a:srgbClr val="E2E8F0"/>
            </a:solidFill>
            <a:prstDash val="solid"/>
          </a:ln>
        </p:spPr>
      </p:sp>
      <p:sp>
        <p:nvSpPr>
          <p:cNvPr id="20" name="Text 18"/>
          <p:cNvSpPr/>
          <p:nvPr/>
        </p:nvSpPr>
        <p:spPr>
          <a:xfrm>
            <a:off x="1005840" y="4114800"/>
            <a:ext cx="2743200" cy="365760"/>
          </a:xfrm>
          <a:prstGeom prst="rect">
            <a:avLst/>
          </a:prstGeom>
          <a:noFill/>
          <a:ln/>
        </p:spPr>
        <p:txBody>
          <a:bodyPr wrap="square" rtlCol="0" anchor="ctr"/>
          <a:lstStyle/>
          <a:p>
            <a:pPr indent="0" marL="0">
              <a:buNone/>
            </a:pPr>
            <a:r>
              <a:rPr lang="en-US" sz="1300" b="1" dirty="0">
                <a:solidFill>
                  <a:srgbClr val="2563EB"/>
                </a:solidFill>
              </a:rPr>
              <a:t>Arts &amp; Humanities</a:t>
            </a:r>
            <a:endParaRPr lang="en-US" sz="1300" dirty="0"/>
          </a:p>
        </p:txBody>
      </p:sp>
      <p:sp>
        <p:nvSpPr>
          <p:cNvPr id="21" name="Text 19"/>
          <p:cNvSpPr/>
          <p:nvPr/>
        </p:nvSpPr>
        <p:spPr>
          <a:xfrm>
            <a:off x="1005840" y="4526280"/>
            <a:ext cx="2743200" cy="365760"/>
          </a:xfrm>
          <a:prstGeom prst="rect">
            <a:avLst/>
          </a:prstGeom>
          <a:noFill/>
          <a:ln/>
        </p:spPr>
        <p:txBody>
          <a:bodyPr wrap="square" rtlCol="0" anchor="ctr"/>
          <a:lstStyle/>
          <a:p>
            <a:pPr indent="0" marL="0">
              <a:buNone/>
            </a:pPr>
            <a:r>
              <a:rPr lang="en-US" sz="1050" b="1" dirty="0">
                <a:solidFill>
                  <a:srgbClr val="1E293B"/>
                </a:solidFill>
              </a:rPr>
              <a:t>Target: BA, MA, Civil Service Aspirants</a:t>
            </a:r>
            <a:endParaRPr lang="en-US" sz="1050" dirty="0"/>
          </a:p>
        </p:txBody>
      </p:sp>
      <p:sp>
        <p:nvSpPr>
          <p:cNvPr id="22" name="Text 20"/>
          <p:cNvSpPr/>
          <p:nvPr/>
        </p:nvSpPr>
        <p:spPr>
          <a:xfrm>
            <a:off x="1005840" y="4937760"/>
            <a:ext cx="2743200" cy="731520"/>
          </a:xfrm>
          <a:prstGeom prst="rect">
            <a:avLst/>
          </a:prstGeom>
          <a:noFill/>
          <a:ln/>
        </p:spPr>
        <p:txBody>
          <a:bodyPr wrap="square" rtlCol="0" anchor="ctr"/>
          <a:lstStyle/>
          <a:p>
            <a:pPr indent="0" marL="0">
              <a:buNone/>
            </a:pPr>
            <a:r>
              <a:rPr lang="en-US" sz="1000" dirty="0">
                <a:solidFill>
                  <a:srgbClr val="64748B"/>
                </a:solidFill>
              </a:rPr>
              <a:t>Popular: Bipin Chandra History, Laxmikanth Polity</a:t>
            </a:r>
            <a:endParaRPr lang="en-US" sz="1000" dirty="0"/>
          </a:p>
        </p:txBody>
      </p:sp>
      <p:sp>
        <p:nvSpPr>
          <p:cNvPr id="23" name="Shape 21"/>
          <p:cNvSpPr/>
          <p:nvPr/>
        </p:nvSpPr>
        <p:spPr>
          <a:xfrm>
            <a:off x="4297680" y="3931920"/>
            <a:ext cx="3291840" cy="1920240"/>
          </a:xfrm>
          <a:prstGeom prst="roundRect">
            <a:avLst>
              <a:gd name="adj" fmla="val 7143"/>
            </a:avLst>
          </a:prstGeom>
          <a:solidFill>
            <a:srgbClr val="FFFFFF"/>
          </a:solidFill>
          <a:ln w="12700">
            <a:solidFill>
              <a:srgbClr val="E2E8F0"/>
            </a:solidFill>
            <a:prstDash val="solid"/>
          </a:ln>
        </p:spPr>
      </p:sp>
      <p:sp>
        <p:nvSpPr>
          <p:cNvPr id="24" name="Text 22"/>
          <p:cNvSpPr/>
          <p:nvPr/>
        </p:nvSpPr>
        <p:spPr>
          <a:xfrm>
            <a:off x="4572000" y="4114800"/>
            <a:ext cx="2743200" cy="365760"/>
          </a:xfrm>
          <a:prstGeom prst="rect">
            <a:avLst/>
          </a:prstGeom>
          <a:noFill/>
          <a:ln/>
        </p:spPr>
        <p:txBody>
          <a:bodyPr wrap="square" rtlCol="0" anchor="ctr"/>
          <a:lstStyle/>
          <a:p>
            <a:pPr indent="0" marL="0">
              <a:buNone/>
            </a:pPr>
            <a:r>
              <a:rPr lang="en-US" sz="1300" b="1" dirty="0">
                <a:solidFill>
                  <a:srgbClr val="2563EB"/>
                </a:solidFill>
              </a:rPr>
              <a:t>Competitive Entrance Exams</a:t>
            </a:r>
            <a:endParaRPr lang="en-US" sz="1300" dirty="0"/>
          </a:p>
        </p:txBody>
      </p:sp>
      <p:sp>
        <p:nvSpPr>
          <p:cNvPr id="25" name="Text 23"/>
          <p:cNvSpPr/>
          <p:nvPr/>
        </p:nvSpPr>
        <p:spPr>
          <a:xfrm>
            <a:off x="4572000" y="4526280"/>
            <a:ext cx="2743200" cy="365760"/>
          </a:xfrm>
          <a:prstGeom prst="rect">
            <a:avLst/>
          </a:prstGeom>
          <a:noFill/>
          <a:ln/>
        </p:spPr>
        <p:txBody>
          <a:bodyPr wrap="square" rtlCol="0" anchor="ctr"/>
          <a:lstStyle/>
          <a:p>
            <a:pPr indent="0" marL="0">
              <a:buNone/>
            </a:pPr>
            <a:r>
              <a:rPr lang="en-US" sz="1050" b="1" dirty="0">
                <a:solidFill>
                  <a:srgbClr val="1E293B"/>
                </a:solidFill>
              </a:rPr>
              <a:t>Target: JEE, NEET, GATE, CAT, Bank PO</a:t>
            </a:r>
            <a:endParaRPr lang="en-US" sz="1050" dirty="0"/>
          </a:p>
        </p:txBody>
      </p:sp>
      <p:sp>
        <p:nvSpPr>
          <p:cNvPr id="26" name="Text 24"/>
          <p:cNvSpPr/>
          <p:nvPr/>
        </p:nvSpPr>
        <p:spPr>
          <a:xfrm>
            <a:off x="4572000" y="4937760"/>
            <a:ext cx="2743200" cy="731520"/>
          </a:xfrm>
          <a:prstGeom prst="rect">
            <a:avLst/>
          </a:prstGeom>
          <a:noFill/>
          <a:ln/>
        </p:spPr>
        <p:txBody>
          <a:bodyPr wrap="square" rtlCol="0" anchor="ctr"/>
          <a:lstStyle/>
          <a:p>
            <a:pPr indent="0" marL="0">
              <a:buNone/>
            </a:pPr>
            <a:r>
              <a:rPr lang="en-US" sz="1000" dirty="0">
                <a:solidFill>
                  <a:srgbClr val="64748B"/>
                </a:solidFill>
              </a:rPr>
              <a:t>Popular: H.C. Verma, Made Easy Gate, R.S. Aggarwal</a:t>
            </a:r>
            <a:endParaRPr lang="en-US" sz="1000" dirty="0"/>
          </a:p>
        </p:txBody>
      </p:sp>
      <p:sp>
        <p:nvSpPr>
          <p:cNvPr id="27" name="Shape 25"/>
          <p:cNvSpPr/>
          <p:nvPr/>
        </p:nvSpPr>
        <p:spPr>
          <a:xfrm>
            <a:off x="7863840" y="3931920"/>
            <a:ext cx="3291840" cy="1920240"/>
          </a:xfrm>
          <a:prstGeom prst="roundRect">
            <a:avLst>
              <a:gd name="adj" fmla="val 7143"/>
            </a:avLst>
          </a:prstGeom>
          <a:solidFill>
            <a:srgbClr val="FFFFFF"/>
          </a:solidFill>
          <a:ln w="12700">
            <a:solidFill>
              <a:srgbClr val="E2E8F0"/>
            </a:solidFill>
            <a:prstDash val="solid"/>
          </a:ln>
        </p:spPr>
      </p:sp>
      <p:sp>
        <p:nvSpPr>
          <p:cNvPr id="28" name="Text 26"/>
          <p:cNvSpPr/>
          <p:nvPr/>
        </p:nvSpPr>
        <p:spPr>
          <a:xfrm>
            <a:off x="8138160" y="4114800"/>
            <a:ext cx="2743200" cy="365760"/>
          </a:xfrm>
          <a:prstGeom prst="rect">
            <a:avLst/>
          </a:prstGeom>
          <a:noFill/>
          <a:ln/>
        </p:spPr>
        <p:txBody>
          <a:bodyPr wrap="square" rtlCol="0" anchor="ctr"/>
          <a:lstStyle/>
          <a:p>
            <a:pPr indent="0" marL="0">
              <a:buNone/>
            </a:pPr>
            <a:r>
              <a:rPr lang="en-US" sz="1300" b="1" dirty="0">
                <a:solidFill>
                  <a:srgbClr val="2563EB"/>
                </a:solidFill>
              </a:rPr>
              <a:t>School &amp; Board Exams</a:t>
            </a:r>
            <a:endParaRPr lang="en-US" sz="1300" dirty="0"/>
          </a:p>
        </p:txBody>
      </p:sp>
      <p:sp>
        <p:nvSpPr>
          <p:cNvPr id="29" name="Text 27"/>
          <p:cNvSpPr/>
          <p:nvPr/>
        </p:nvSpPr>
        <p:spPr>
          <a:xfrm>
            <a:off x="8138160" y="4526280"/>
            <a:ext cx="2743200" cy="365760"/>
          </a:xfrm>
          <a:prstGeom prst="rect">
            <a:avLst/>
          </a:prstGeom>
          <a:noFill/>
          <a:ln/>
        </p:spPr>
        <p:txBody>
          <a:bodyPr wrap="square" rtlCol="0" anchor="ctr"/>
          <a:lstStyle/>
          <a:p>
            <a:pPr indent="0" marL="0">
              <a:buNone/>
            </a:pPr>
            <a:r>
              <a:rPr lang="en-US" sz="1050" b="1" dirty="0">
                <a:solidFill>
                  <a:srgbClr val="1E293B"/>
                </a:solidFill>
              </a:rPr>
              <a:t>Target: Class 10th &amp; 12th CBSE/ICSE</a:t>
            </a:r>
            <a:endParaRPr lang="en-US" sz="1050" dirty="0"/>
          </a:p>
        </p:txBody>
      </p:sp>
      <p:sp>
        <p:nvSpPr>
          <p:cNvPr id="30" name="Text 28"/>
          <p:cNvSpPr/>
          <p:nvPr/>
        </p:nvSpPr>
        <p:spPr>
          <a:xfrm>
            <a:off x="8138160" y="4937760"/>
            <a:ext cx="2743200" cy="731520"/>
          </a:xfrm>
          <a:prstGeom prst="rect">
            <a:avLst/>
          </a:prstGeom>
          <a:noFill/>
          <a:ln/>
        </p:spPr>
        <p:txBody>
          <a:bodyPr wrap="square" rtlCol="0" anchor="ctr"/>
          <a:lstStyle/>
          <a:p>
            <a:pPr indent="0" marL="0">
              <a:buNone/>
            </a:pPr>
            <a:r>
              <a:rPr lang="en-US" sz="1000" dirty="0">
                <a:solidFill>
                  <a:srgbClr val="64748B"/>
                </a:solidFill>
              </a:rPr>
              <a:t>Popular: NCERT Bundles, Exemplar Solved Papers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57200"/>
            <a:ext cx="2377440" cy="320040"/>
          </a:xfrm>
          <a:prstGeom prst="roundRect">
            <a:avLst>
              <a:gd name="adj" fmla="val 28571"/>
            </a:avLst>
          </a:prstGeom>
          <a:solidFill>
            <a:srgbClr val="EFF6FF"/>
          </a:solidFill>
          <a:ln w="12700">
            <a:solidFill>
              <a:srgbClr val="BFDBFE"/>
            </a:solidFill>
            <a:prstDash val="solid"/>
          </a:ln>
        </p:spPr>
      </p:sp>
      <p:sp>
        <p:nvSpPr>
          <p:cNvPr id="3" name="Text 1"/>
          <p:cNvSpPr/>
          <p:nvPr/>
        </p:nvSpPr>
        <p:spPr>
          <a:xfrm>
            <a:off x="731520" y="457200"/>
            <a:ext cx="2377440" cy="320040"/>
          </a:xfrm>
          <a:prstGeom prst="rect">
            <a:avLst/>
          </a:prstGeom>
          <a:noFill/>
          <a:ln/>
        </p:spPr>
        <p:txBody>
          <a:bodyPr wrap="square" rtlCol="0" anchor="ctr"/>
          <a:lstStyle/>
          <a:p>
            <a:pPr algn="ctr" indent="0" marL="0">
              <a:buNone/>
            </a:pPr>
            <a:r>
              <a:rPr lang="en-US" sz="900" b="1" dirty="0">
                <a:solidFill>
                  <a:srgbClr val="2563EB"/>
                </a:solidFill>
              </a:rPr>
              <a:t>PLATFORM CAPABILITIES</a:t>
            </a:r>
            <a:endParaRPr lang="en-US" sz="9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Core Platform Features &amp; User Experience</a:t>
            </a:r>
            <a:endParaRPr lang="en-US" sz="2200" dirty="0"/>
          </a:p>
        </p:txBody>
      </p:sp>
      <p:sp>
        <p:nvSpPr>
          <p:cNvPr id="5" name="Shape 3"/>
          <p:cNvSpPr/>
          <p:nvPr/>
        </p:nvSpPr>
        <p:spPr>
          <a:xfrm>
            <a:off x="0" y="0"/>
            <a:ext cx="9144000" cy="73152"/>
          </a:xfrm>
          <a:prstGeom prst="rect">
            <a:avLst/>
          </a:prstGeom>
          <a:solidFill>
            <a:srgbClr val="2563EB"/>
          </a:solidFill>
          <a:ln/>
        </p:spPr>
      </p:sp>
      <p:sp>
        <p:nvSpPr>
          <p:cNvPr id="6" name="Text 4"/>
          <p:cNvSpPr/>
          <p:nvPr/>
        </p:nvSpPr>
        <p:spPr>
          <a:xfrm>
            <a:off x="731520" y="6400800"/>
            <a:ext cx="4572000" cy="274320"/>
          </a:xfrm>
          <a:prstGeom prst="rect">
            <a:avLst/>
          </a:prstGeom>
          <a:noFill/>
          <a:ln/>
        </p:spPr>
        <p:txBody>
          <a:bodyPr wrap="square" rtlCol="0" anchor="ctr"/>
          <a:lstStyle/>
          <a:p>
            <a:pPr indent="0" marL="0">
              <a:buNone/>
            </a:pPr>
            <a:r>
              <a:rPr lang="en-US" sz="900" dirty="0">
                <a:solidFill>
                  <a:srgbClr val="64748B"/>
                </a:solidFill>
              </a:rPr>
              <a:t>BookLoop  |  Read More. Spend Less.</a:t>
            </a:r>
            <a:endParaRPr lang="en-US" sz="900" dirty="0"/>
          </a:p>
        </p:txBody>
      </p:sp>
      <p:sp>
        <p:nvSpPr>
          <p:cNvPr id="7" name="Shape 5"/>
          <p:cNvSpPr/>
          <p:nvPr/>
        </p:nvSpPr>
        <p:spPr>
          <a:xfrm>
            <a:off x="731520" y="1737360"/>
            <a:ext cx="2468880" cy="4297680"/>
          </a:xfrm>
          <a:prstGeom prst="roundRect">
            <a:avLst>
              <a:gd name="adj" fmla="val 5556"/>
            </a:avLst>
          </a:prstGeom>
          <a:solidFill>
            <a:srgbClr val="FFFFFF"/>
          </a:solidFill>
          <a:ln w="12700">
            <a:solidFill>
              <a:srgbClr val="E2E8F0"/>
            </a:solidFill>
            <a:prstDash val="solid"/>
          </a:ln>
        </p:spPr>
      </p:sp>
      <p:sp>
        <p:nvSpPr>
          <p:cNvPr id="8" name="Shape 6"/>
          <p:cNvSpPr/>
          <p:nvPr/>
        </p:nvSpPr>
        <p:spPr>
          <a:xfrm>
            <a:off x="960120" y="1965960"/>
            <a:ext cx="731520" cy="411480"/>
          </a:xfrm>
          <a:prstGeom prst="roundRect">
            <a:avLst>
              <a:gd name="adj" fmla="val 22222"/>
            </a:avLst>
          </a:prstGeom>
          <a:solidFill>
            <a:srgbClr val="EFF6FF"/>
          </a:solidFill>
          <a:ln/>
        </p:spPr>
      </p:sp>
      <p:sp>
        <p:nvSpPr>
          <p:cNvPr id="9" name="Text 7"/>
          <p:cNvSpPr/>
          <p:nvPr/>
        </p:nvSpPr>
        <p:spPr>
          <a:xfrm>
            <a:off x="960120" y="1965960"/>
            <a:ext cx="731520" cy="411480"/>
          </a:xfrm>
          <a:prstGeom prst="rect">
            <a:avLst/>
          </a:prstGeom>
          <a:noFill/>
          <a:ln/>
        </p:spPr>
        <p:txBody>
          <a:bodyPr wrap="square" rtlCol="0" anchor="ctr"/>
          <a:lstStyle/>
          <a:p>
            <a:pPr algn="ctr" indent="0" marL="0">
              <a:buNone/>
            </a:pPr>
            <a:r>
              <a:rPr lang="en-US" sz="1200" b="1" dirty="0">
                <a:solidFill>
                  <a:srgbClr val="2563EB"/>
                </a:solidFill>
              </a:rPr>
              <a:t>01</a:t>
            </a:r>
            <a:endParaRPr lang="en-US" sz="1200" dirty="0"/>
          </a:p>
        </p:txBody>
      </p:sp>
      <p:sp>
        <p:nvSpPr>
          <p:cNvPr id="10" name="Text 8"/>
          <p:cNvSpPr/>
          <p:nvPr/>
        </p:nvSpPr>
        <p:spPr>
          <a:xfrm>
            <a:off x="960120" y="2514600"/>
            <a:ext cx="2011680" cy="731520"/>
          </a:xfrm>
          <a:prstGeom prst="rect">
            <a:avLst/>
          </a:prstGeom>
          <a:noFill/>
          <a:ln/>
        </p:spPr>
        <p:txBody>
          <a:bodyPr wrap="square" rtlCol="0" anchor="ctr"/>
          <a:lstStyle/>
          <a:p>
            <a:pPr indent="0" marL="0">
              <a:buNone/>
            </a:pPr>
            <a:r>
              <a:rPr lang="en-US" sz="1300" b="1" dirty="0">
                <a:solidFill>
                  <a:srgbClr val="1E293B"/>
                </a:solidFill>
              </a:rPr>
              <a:t>Smart Search &amp; Live Filters</a:t>
            </a:r>
            <a:endParaRPr lang="en-US" sz="1300" dirty="0"/>
          </a:p>
        </p:txBody>
      </p:sp>
      <p:sp>
        <p:nvSpPr>
          <p:cNvPr id="11" name="Text 9"/>
          <p:cNvSpPr/>
          <p:nvPr/>
        </p:nvSpPr>
        <p:spPr>
          <a:xfrm>
            <a:off x="960120" y="3337560"/>
            <a:ext cx="2011680" cy="2377440"/>
          </a:xfrm>
          <a:prstGeom prst="rect">
            <a:avLst/>
          </a:prstGeom>
          <a:noFill/>
          <a:ln/>
        </p:spPr>
        <p:txBody>
          <a:bodyPr wrap="square" rtlCol="0" anchor="ctr"/>
          <a:lstStyle/>
          <a:p>
            <a:pPr indent="0" marL="0">
              <a:lnSpc>
                <a:spcPts val="1600"/>
              </a:lnSpc>
              <a:buNone/>
            </a:pPr>
            <a:r>
              <a:rPr lang="en-US" sz="1050" dirty="0">
                <a:solidFill>
                  <a:srgbClr val="64748B"/>
                </a:solidFill>
              </a:rPr>
              <a:t>Instant search across titles, authors, and syllabus descriptions. Dynamic filters for 8 categories, 3 conditions, and 4 price ranges.</a:t>
            </a:r>
            <a:endParaRPr lang="en-US" sz="1050" dirty="0"/>
          </a:p>
        </p:txBody>
      </p:sp>
      <p:sp>
        <p:nvSpPr>
          <p:cNvPr id="12" name="Shape 10"/>
          <p:cNvSpPr/>
          <p:nvPr/>
        </p:nvSpPr>
        <p:spPr>
          <a:xfrm>
            <a:off x="3383280" y="1737360"/>
            <a:ext cx="2468880" cy="4297680"/>
          </a:xfrm>
          <a:prstGeom prst="roundRect">
            <a:avLst>
              <a:gd name="adj" fmla="val 5556"/>
            </a:avLst>
          </a:prstGeom>
          <a:solidFill>
            <a:srgbClr val="FFFFFF"/>
          </a:solidFill>
          <a:ln w="12700">
            <a:solidFill>
              <a:srgbClr val="E2E8F0"/>
            </a:solidFill>
            <a:prstDash val="solid"/>
          </a:ln>
        </p:spPr>
      </p:sp>
      <p:sp>
        <p:nvSpPr>
          <p:cNvPr id="13" name="Shape 11"/>
          <p:cNvSpPr/>
          <p:nvPr/>
        </p:nvSpPr>
        <p:spPr>
          <a:xfrm>
            <a:off x="3611880" y="1965960"/>
            <a:ext cx="731520" cy="411480"/>
          </a:xfrm>
          <a:prstGeom prst="roundRect">
            <a:avLst>
              <a:gd name="adj" fmla="val 22222"/>
            </a:avLst>
          </a:prstGeom>
          <a:solidFill>
            <a:srgbClr val="FFF7ED"/>
          </a:solidFill>
          <a:ln/>
        </p:spPr>
      </p:sp>
      <p:sp>
        <p:nvSpPr>
          <p:cNvPr id="14" name="Text 12"/>
          <p:cNvSpPr/>
          <p:nvPr/>
        </p:nvSpPr>
        <p:spPr>
          <a:xfrm>
            <a:off x="3611880" y="1965960"/>
            <a:ext cx="731520" cy="411480"/>
          </a:xfrm>
          <a:prstGeom prst="rect">
            <a:avLst/>
          </a:prstGeom>
          <a:noFill/>
          <a:ln/>
        </p:spPr>
        <p:txBody>
          <a:bodyPr wrap="square" rtlCol="0" anchor="ctr"/>
          <a:lstStyle/>
          <a:p>
            <a:pPr algn="ctr" indent="0" marL="0">
              <a:buNone/>
            </a:pPr>
            <a:r>
              <a:rPr lang="en-US" sz="1200" b="1" dirty="0">
                <a:solidFill>
                  <a:srgbClr val="F97316"/>
                </a:solidFill>
              </a:rPr>
              <a:t>02</a:t>
            </a:r>
            <a:endParaRPr lang="en-US" sz="1200" dirty="0"/>
          </a:p>
        </p:txBody>
      </p:sp>
      <p:sp>
        <p:nvSpPr>
          <p:cNvPr id="15" name="Text 13"/>
          <p:cNvSpPr/>
          <p:nvPr/>
        </p:nvSpPr>
        <p:spPr>
          <a:xfrm>
            <a:off x="3611880" y="2514600"/>
            <a:ext cx="2011680" cy="731520"/>
          </a:xfrm>
          <a:prstGeom prst="rect">
            <a:avLst/>
          </a:prstGeom>
          <a:noFill/>
          <a:ln/>
        </p:spPr>
        <p:txBody>
          <a:bodyPr wrap="square" rtlCol="0" anchor="ctr"/>
          <a:lstStyle/>
          <a:p>
            <a:pPr indent="0" marL="0">
              <a:buNone/>
            </a:pPr>
            <a:r>
              <a:rPr lang="en-US" sz="1300" b="1" dirty="0">
                <a:solidFill>
                  <a:srgbClr val="1E293B"/>
                </a:solidFill>
              </a:rPr>
              <a:t>Interactive Details &amp; Safety</a:t>
            </a:r>
            <a:endParaRPr lang="en-US" sz="1300" dirty="0"/>
          </a:p>
        </p:txBody>
      </p:sp>
      <p:sp>
        <p:nvSpPr>
          <p:cNvPr id="16" name="Text 14"/>
          <p:cNvSpPr/>
          <p:nvPr/>
        </p:nvSpPr>
        <p:spPr>
          <a:xfrm>
            <a:off x="3611880" y="3337560"/>
            <a:ext cx="2011680" cy="2377440"/>
          </a:xfrm>
          <a:prstGeom prst="rect">
            <a:avLst/>
          </a:prstGeom>
          <a:noFill/>
          <a:ln/>
        </p:spPr>
        <p:txBody>
          <a:bodyPr wrap="square" rtlCol="0" anchor="ctr"/>
          <a:lstStyle/>
          <a:p>
            <a:pPr indent="0" marL="0">
              <a:lnSpc>
                <a:spcPts val="1600"/>
              </a:lnSpc>
              <a:buNone/>
            </a:pPr>
            <a:r>
              <a:rPr lang="en-US" sz="1050" dirty="0">
                <a:solidFill>
                  <a:srgbClr val="64748B"/>
                </a:solidFill>
              </a:rPr>
              <a:t>Displays condition wear breakdown, high-res photos, campus pickup point, and student safety checklists to prevent fraud.</a:t>
            </a:r>
            <a:endParaRPr lang="en-US" sz="1050" dirty="0"/>
          </a:p>
        </p:txBody>
      </p:sp>
      <p:sp>
        <p:nvSpPr>
          <p:cNvPr id="17" name="Shape 15"/>
          <p:cNvSpPr/>
          <p:nvPr/>
        </p:nvSpPr>
        <p:spPr>
          <a:xfrm>
            <a:off x="6035040" y="1737360"/>
            <a:ext cx="2468880" cy="4297680"/>
          </a:xfrm>
          <a:prstGeom prst="roundRect">
            <a:avLst>
              <a:gd name="adj" fmla="val 5556"/>
            </a:avLst>
          </a:prstGeom>
          <a:solidFill>
            <a:srgbClr val="FFFFFF"/>
          </a:solidFill>
          <a:ln w="12700">
            <a:solidFill>
              <a:srgbClr val="E2E8F0"/>
            </a:solidFill>
            <a:prstDash val="solid"/>
          </a:ln>
        </p:spPr>
      </p:sp>
      <p:sp>
        <p:nvSpPr>
          <p:cNvPr id="18" name="Shape 16"/>
          <p:cNvSpPr/>
          <p:nvPr/>
        </p:nvSpPr>
        <p:spPr>
          <a:xfrm>
            <a:off x="6263640" y="1965960"/>
            <a:ext cx="731520" cy="411480"/>
          </a:xfrm>
          <a:prstGeom prst="roundRect">
            <a:avLst>
              <a:gd name="adj" fmla="val 22222"/>
            </a:avLst>
          </a:prstGeom>
          <a:solidFill>
            <a:srgbClr val="EFF6FF"/>
          </a:solidFill>
          <a:ln/>
        </p:spPr>
      </p:sp>
      <p:sp>
        <p:nvSpPr>
          <p:cNvPr id="19" name="Text 17"/>
          <p:cNvSpPr/>
          <p:nvPr/>
        </p:nvSpPr>
        <p:spPr>
          <a:xfrm>
            <a:off x="6263640" y="1965960"/>
            <a:ext cx="731520" cy="411480"/>
          </a:xfrm>
          <a:prstGeom prst="rect">
            <a:avLst/>
          </a:prstGeom>
          <a:noFill/>
          <a:ln/>
        </p:spPr>
        <p:txBody>
          <a:bodyPr wrap="square" rtlCol="0" anchor="ctr"/>
          <a:lstStyle/>
          <a:p>
            <a:pPr algn="ctr" indent="0" marL="0">
              <a:buNone/>
            </a:pPr>
            <a:r>
              <a:rPr lang="en-US" sz="1200" b="1" dirty="0">
                <a:solidFill>
                  <a:srgbClr val="2563EB"/>
                </a:solidFill>
              </a:rPr>
              <a:t>03</a:t>
            </a:r>
            <a:endParaRPr lang="en-US" sz="1200" dirty="0"/>
          </a:p>
        </p:txBody>
      </p:sp>
      <p:sp>
        <p:nvSpPr>
          <p:cNvPr id="20" name="Text 18"/>
          <p:cNvSpPr/>
          <p:nvPr/>
        </p:nvSpPr>
        <p:spPr>
          <a:xfrm>
            <a:off x="6263640" y="2514600"/>
            <a:ext cx="2011680" cy="731520"/>
          </a:xfrm>
          <a:prstGeom prst="rect">
            <a:avLst/>
          </a:prstGeom>
          <a:noFill/>
          <a:ln/>
        </p:spPr>
        <p:txBody>
          <a:bodyPr wrap="square" rtlCol="0" anchor="ctr"/>
          <a:lstStyle/>
          <a:p>
            <a:pPr indent="0" marL="0">
              <a:buNone/>
            </a:pPr>
            <a:r>
              <a:rPr lang="en-US" sz="1300" b="1" dirty="0">
                <a:solidFill>
                  <a:srgbClr val="1E293B"/>
                </a:solidFill>
              </a:rPr>
              <a:t>Direct Seller Connection</a:t>
            </a:r>
            <a:endParaRPr lang="en-US" sz="1300" dirty="0"/>
          </a:p>
        </p:txBody>
      </p:sp>
      <p:sp>
        <p:nvSpPr>
          <p:cNvPr id="21" name="Text 19"/>
          <p:cNvSpPr/>
          <p:nvPr/>
        </p:nvSpPr>
        <p:spPr>
          <a:xfrm>
            <a:off x="6263640" y="3337560"/>
            <a:ext cx="2011680" cy="2377440"/>
          </a:xfrm>
          <a:prstGeom prst="rect">
            <a:avLst/>
          </a:prstGeom>
          <a:noFill/>
          <a:ln/>
        </p:spPr>
        <p:txBody>
          <a:bodyPr wrap="square" rtlCol="0" anchor="ctr"/>
          <a:lstStyle/>
          <a:p>
            <a:pPr indent="0" marL="0">
              <a:lnSpc>
                <a:spcPts val="1600"/>
              </a:lnSpc>
              <a:buNone/>
            </a:pPr>
            <a:r>
              <a:rPr lang="en-US" sz="1050" dirty="0">
                <a:solidFill>
                  <a:srgbClr val="64748B"/>
                </a:solidFill>
              </a:rPr>
              <a:t>One-click WhatsApp chat pre-filled with book title, direct telephone calling, and email outreach with zero fees.</a:t>
            </a:r>
            <a:endParaRPr lang="en-US" sz="1050" dirty="0"/>
          </a:p>
        </p:txBody>
      </p:sp>
      <p:sp>
        <p:nvSpPr>
          <p:cNvPr id="22" name="Shape 20"/>
          <p:cNvSpPr/>
          <p:nvPr/>
        </p:nvSpPr>
        <p:spPr>
          <a:xfrm>
            <a:off x="8686800" y="1737360"/>
            <a:ext cx="2468880" cy="4297680"/>
          </a:xfrm>
          <a:prstGeom prst="roundRect">
            <a:avLst>
              <a:gd name="adj" fmla="val 5556"/>
            </a:avLst>
          </a:prstGeom>
          <a:solidFill>
            <a:srgbClr val="FFFFFF"/>
          </a:solidFill>
          <a:ln w="12700">
            <a:solidFill>
              <a:srgbClr val="E2E8F0"/>
            </a:solidFill>
            <a:prstDash val="solid"/>
          </a:ln>
        </p:spPr>
      </p:sp>
      <p:sp>
        <p:nvSpPr>
          <p:cNvPr id="23" name="Shape 21"/>
          <p:cNvSpPr/>
          <p:nvPr/>
        </p:nvSpPr>
        <p:spPr>
          <a:xfrm>
            <a:off x="8915400" y="1965960"/>
            <a:ext cx="731520" cy="411480"/>
          </a:xfrm>
          <a:prstGeom prst="roundRect">
            <a:avLst>
              <a:gd name="adj" fmla="val 22222"/>
            </a:avLst>
          </a:prstGeom>
          <a:solidFill>
            <a:srgbClr val="FFF7ED"/>
          </a:solidFill>
          <a:ln/>
        </p:spPr>
      </p:sp>
      <p:sp>
        <p:nvSpPr>
          <p:cNvPr id="24" name="Text 22"/>
          <p:cNvSpPr/>
          <p:nvPr/>
        </p:nvSpPr>
        <p:spPr>
          <a:xfrm>
            <a:off x="8915400" y="1965960"/>
            <a:ext cx="731520" cy="411480"/>
          </a:xfrm>
          <a:prstGeom prst="rect">
            <a:avLst/>
          </a:prstGeom>
          <a:noFill/>
          <a:ln/>
        </p:spPr>
        <p:txBody>
          <a:bodyPr wrap="square" rtlCol="0" anchor="ctr"/>
          <a:lstStyle/>
          <a:p>
            <a:pPr algn="ctr" indent="0" marL="0">
              <a:buNone/>
            </a:pPr>
            <a:r>
              <a:rPr lang="en-US" sz="1200" b="1" dirty="0">
                <a:solidFill>
                  <a:srgbClr val="F97316"/>
                </a:solidFill>
              </a:rPr>
              <a:t>04</a:t>
            </a:r>
            <a:endParaRPr lang="en-US" sz="1200" dirty="0"/>
          </a:p>
        </p:txBody>
      </p:sp>
      <p:sp>
        <p:nvSpPr>
          <p:cNvPr id="25" name="Text 23"/>
          <p:cNvSpPr/>
          <p:nvPr/>
        </p:nvSpPr>
        <p:spPr>
          <a:xfrm>
            <a:off x="8915400" y="2514600"/>
            <a:ext cx="2011680" cy="731520"/>
          </a:xfrm>
          <a:prstGeom prst="rect">
            <a:avLst/>
          </a:prstGeom>
          <a:noFill/>
          <a:ln/>
        </p:spPr>
        <p:txBody>
          <a:bodyPr wrap="square" rtlCol="0" anchor="ctr"/>
          <a:lstStyle/>
          <a:p>
            <a:pPr indent="0" marL="0">
              <a:buNone/>
            </a:pPr>
            <a:r>
              <a:rPr lang="en-US" sz="1300" b="1" dirty="0">
                <a:solidFill>
                  <a:srgbClr val="1E293B"/>
                </a:solidFill>
              </a:rPr>
              <a:t>Listing Lifecycle Management</a:t>
            </a:r>
            <a:endParaRPr lang="en-US" sz="1300" dirty="0"/>
          </a:p>
        </p:txBody>
      </p:sp>
      <p:sp>
        <p:nvSpPr>
          <p:cNvPr id="26" name="Text 24"/>
          <p:cNvSpPr/>
          <p:nvPr/>
        </p:nvSpPr>
        <p:spPr>
          <a:xfrm>
            <a:off x="8915400" y="3337560"/>
            <a:ext cx="2011680" cy="2377440"/>
          </a:xfrm>
          <a:prstGeom prst="rect">
            <a:avLst/>
          </a:prstGeom>
          <a:noFill/>
          <a:ln/>
        </p:spPr>
        <p:txBody>
          <a:bodyPr wrap="square" rtlCol="0" anchor="ctr"/>
          <a:lstStyle/>
          <a:p>
            <a:pPr indent="0" marL="0">
              <a:lnSpc>
                <a:spcPts val="1600"/>
              </a:lnSpc>
              <a:buNone/>
            </a:pPr>
            <a:r>
              <a:rPr lang="en-US" sz="1050" dirty="0">
                <a:solidFill>
                  <a:srgbClr val="64748B"/>
                </a:solidFill>
              </a:rPr>
              <a:t>Quick 2-minute seller form with image upload, condition presets, and complete self-service editing or deletion in My Listings.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57200"/>
            <a:ext cx="2377440" cy="320040"/>
          </a:xfrm>
          <a:prstGeom prst="roundRect">
            <a:avLst>
              <a:gd name="adj" fmla="val 28571"/>
            </a:avLst>
          </a:prstGeom>
          <a:solidFill>
            <a:srgbClr val="EFF6FF"/>
          </a:solidFill>
          <a:ln w="12700">
            <a:solidFill>
              <a:srgbClr val="BFDBFE"/>
            </a:solidFill>
            <a:prstDash val="solid"/>
          </a:ln>
        </p:spPr>
      </p:sp>
      <p:sp>
        <p:nvSpPr>
          <p:cNvPr id="3" name="Text 1"/>
          <p:cNvSpPr/>
          <p:nvPr/>
        </p:nvSpPr>
        <p:spPr>
          <a:xfrm>
            <a:off x="731520" y="457200"/>
            <a:ext cx="2377440" cy="320040"/>
          </a:xfrm>
          <a:prstGeom prst="rect">
            <a:avLst/>
          </a:prstGeom>
          <a:noFill/>
          <a:ln/>
        </p:spPr>
        <p:txBody>
          <a:bodyPr wrap="square" rtlCol="0" anchor="ctr"/>
          <a:lstStyle/>
          <a:p>
            <a:pPr algn="ctr" indent="0" marL="0">
              <a:buNone/>
            </a:pPr>
            <a:r>
              <a:rPr lang="en-US" sz="900" b="1" dirty="0">
                <a:solidFill>
                  <a:srgbClr val="2563EB"/>
                </a:solidFill>
              </a:rPr>
              <a:t>UI &amp; UX DESIGN</a:t>
            </a:r>
            <a:endParaRPr lang="en-US" sz="9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Design Philosophy: Student-Friendly &amp; Accessible</a:t>
            </a:r>
            <a:endParaRPr lang="en-US" sz="2200" dirty="0"/>
          </a:p>
        </p:txBody>
      </p:sp>
      <p:sp>
        <p:nvSpPr>
          <p:cNvPr id="5" name="Shape 3"/>
          <p:cNvSpPr/>
          <p:nvPr/>
        </p:nvSpPr>
        <p:spPr>
          <a:xfrm>
            <a:off x="0" y="0"/>
            <a:ext cx="9144000" cy="73152"/>
          </a:xfrm>
          <a:prstGeom prst="rect">
            <a:avLst/>
          </a:prstGeom>
          <a:solidFill>
            <a:srgbClr val="2563EB"/>
          </a:solidFill>
          <a:ln/>
        </p:spPr>
      </p:sp>
      <p:sp>
        <p:nvSpPr>
          <p:cNvPr id="6" name="Text 4"/>
          <p:cNvSpPr/>
          <p:nvPr/>
        </p:nvSpPr>
        <p:spPr>
          <a:xfrm>
            <a:off x="731520" y="6400800"/>
            <a:ext cx="4572000" cy="274320"/>
          </a:xfrm>
          <a:prstGeom prst="rect">
            <a:avLst/>
          </a:prstGeom>
          <a:noFill/>
          <a:ln/>
        </p:spPr>
        <p:txBody>
          <a:bodyPr wrap="square" rtlCol="0" anchor="ctr"/>
          <a:lstStyle/>
          <a:p>
            <a:pPr indent="0" marL="0">
              <a:buNone/>
            </a:pPr>
            <a:r>
              <a:rPr lang="en-US" sz="900" dirty="0">
                <a:solidFill>
                  <a:srgbClr val="64748B"/>
                </a:solidFill>
              </a:rPr>
              <a:t>BookLoop  |  Read More. Spend Less.</a:t>
            </a:r>
            <a:endParaRPr lang="en-US" sz="900" dirty="0"/>
          </a:p>
        </p:txBody>
      </p:sp>
      <p:sp>
        <p:nvSpPr>
          <p:cNvPr id="7" name="Shape 5"/>
          <p:cNvSpPr/>
          <p:nvPr/>
        </p:nvSpPr>
        <p:spPr>
          <a:xfrm>
            <a:off x="731520" y="1737360"/>
            <a:ext cx="3291840" cy="4297680"/>
          </a:xfrm>
          <a:prstGeom prst="roundRect">
            <a:avLst>
              <a:gd name="adj" fmla="val 4167"/>
            </a:avLst>
          </a:prstGeom>
          <a:solidFill>
            <a:srgbClr val="FFFFFF"/>
          </a:solidFill>
          <a:ln w="12700">
            <a:solidFill>
              <a:srgbClr val="E2E8F0"/>
            </a:solidFill>
            <a:prstDash val="solid"/>
          </a:ln>
        </p:spPr>
      </p:sp>
      <p:sp>
        <p:nvSpPr>
          <p:cNvPr id="8" name="Text 6"/>
          <p:cNvSpPr/>
          <p:nvPr/>
        </p:nvSpPr>
        <p:spPr>
          <a:xfrm>
            <a:off x="1005840" y="2011680"/>
            <a:ext cx="2743200" cy="457200"/>
          </a:xfrm>
          <a:prstGeom prst="rect">
            <a:avLst/>
          </a:prstGeom>
          <a:noFill/>
          <a:ln/>
        </p:spPr>
        <p:txBody>
          <a:bodyPr wrap="square" rtlCol="0" anchor="ctr"/>
          <a:lstStyle/>
          <a:p>
            <a:pPr indent="0" marL="0">
              <a:buNone/>
            </a:pPr>
            <a:r>
              <a:rPr lang="en-US" sz="1500" b="1" dirty="0">
                <a:solidFill>
                  <a:srgbClr val="2563EB"/>
                </a:solidFill>
              </a:rPr>
              <a:t>Color Palette</a:t>
            </a:r>
            <a:endParaRPr lang="en-US" sz="1500" dirty="0"/>
          </a:p>
        </p:txBody>
      </p:sp>
      <p:sp>
        <p:nvSpPr>
          <p:cNvPr id="9" name="Shape 7"/>
          <p:cNvSpPr/>
          <p:nvPr/>
        </p:nvSpPr>
        <p:spPr>
          <a:xfrm>
            <a:off x="1005840" y="2651760"/>
            <a:ext cx="2743200" cy="868680"/>
          </a:xfrm>
          <a:prstGeom prst="roundRect">
            <a:avLst>
              <a:gd name="adj" fmla="val 10526"/>
            </a:avLst>
          </a:prstGeom>
          <a:solidFill>
            <a:srgbClr val="F8FAFC"/>
          </a:solidFill>
          <a:ln/>
        </p:spPr>
      </p:sp>
      <p:sp>
        <p:nvSpPr>
          <p:cNvPr id="10" name="Text 8"/>
          <p:cNvSpPr/>
          <p:nvPr/>
        </p:nvSpPr>
        <p:spPr>
          <a:xfrm>
            <a:off x="1143000" y="2697480"/>
            <a:ext cx="2468880" cy="777240"/>
          </a:xfrm>
          <a:prstGeom prst="rect">
            <a:avLst/>
          </a:prstGeom>
          <a:noFill/>
          <a:ln/>
        </p:spPr>
        <p:txBody>
          <a:bodyPr wrap="square" rtlCol="0" anchor="ctr"/>
          <a:lstStyle/>
          <a:p>
            <a:pPr indent="0" marL="0">
              <a:buNone/>
            </a:pPr>
            <a:r>
              <a:rPr lang="en-US" sz="1050" dirty="0">
                <a:solidFill>
                  <a:srgbClr val="1E293B"/>
                </a:solidFill>
              </a:rPr>
              <a:t>Clean White Canvas (#FFFFFF) with slate contrast</a:t>
            </a:r>
            <a:endParaRPr lang="en-US" sz="1050" dirty="0"/>
          </a:p>
        </p:txBody>
      </p:sp>
      <p:sp>
        <p:nvSpPr>
          <p:cNvPr id="11" name="Shape 9"/>
          <p:cNvSpPr/>
          <p:nvPr/>
        </p:nvSpPr>
        <p:spPr>
          <a:xfrm>
            <a:off x="1005840" y="3703320"/>
            <a:ext cx="2743200" cy="868680"/>
          </a:xfrm>
          <a:prstGeom prst="roundRect">
            <a:avLst>
              <a:gd name="adj" fmla="val 10526"/>
            </a:avLst>
          </a:prstGeom>
          <a:solidFill>
            <a:srgbClr val="F8FAFC"/>
          </a:solidFill>
          <a:ln/>
        </p:spPr>
      </p:sp>
      <p:sp>
        <p:nvSpPr>
          <p:cNvPr id="12" name="Text 10"/>
          <p:cNvSpPr/>
          <p:nvPr/>
        </p:nvSpPr>
        <p:spPr>
          <a:xfrm>
            <a:off x="1143000" y="3749040"/>
            <a:ext cx="2468880" cy="777240"/>
          </a:xfrm>
          <a:prstGeom prst="rect">
            <a:avLst/>
          </a:prstGeom>
          <a:noFill/>
          <a:ln/>
        </p:spPr>
        <p:txBody>
          <a:bodyPr wrap="square" rtlCol="0" anchor="ctr"/>
          <a:lstStyle/>
          <a:p>
            <a:pPr indent="0" marL="0">
              <a:buNone/>
            </a:pPr>
            <a:r>
              <a:rPr lang="en-US" sz="1050" dirty="0">
                <a:solidFill>
                  <a:srgbClr val="1E293B"/>
                </a:solidFill>
              </a:rPr>
              <a:t>Trust Blue (#2563EB) for primary actions</a:t>
            </a:r>
            <a:endParaRPr lang="en-US" sz="1050" dirty="0"/>
          </a:p>
        </p:txBody>
      </p:sp>
      <p:sp>
        <p:nvSpPr>
          <p:cNvPr id="13" name="Shape 11"/>
          <p:cNvSpPr/>
          <p:nvPr/>
        </p:nvSpPr>
        <p:spPr>
          <a:xfrm>
            <a:off x="1005840" y="4754880"/>
            <a:ext cx="2743200" cy="868680"/>
          </a:xfrm>
          <a:prstGeom prst="roundRect">
            <a:avLst>
              <a:gd name="adj" fmla="val 10526"/>
            </a:avLst>
          </a:prstGeom>
          <a:solidFill>
            <a:srgbClr val="F8FAFC"/>
          </a:solidFill>
          <a:ln/>
        </p:spPr>
      </p:sp>
      <p:sp>
        <p:nvSpPr>
          <p:cNvPr id="14" name="Text 12"/>
          <p:cNvSpPr/>
          <p:nvPr/>
        </p:nvSpPr>
        <p:spPr>
          <a:xfrm>
            <a:off x="1143000" y="4800600"/>
            <a:ext cx="2468880" cy="777240"/>
          </a:xfrm>
          <a:prstGeom prst="rect">
            <a:avLst/>
          </a:prstGeom>
          <a:noFill/>
          <a:ln/>
        </p:spPr>
        <p:txBody>
          <a:bodyPr wrap="square" rtlCol="0" anchor="ctr"/>
          <a:lstStyle/>
          <a:p>
            <a:pPr indent="0" marL="0">
              <a:buNone/>
            </a:pPr>
            <a:r>
              <a:rPr lang="en-US" sz="1050" dirty="0">
                <a:solidFill>
                  <a:srgbClr val="1E293B"/>
                </a:solidFill>
              </a:rPr>
              <a:t>Vibrant Orange (#F97316) for seller CTAs &amp; alerts</a:t>
            </a:r>
            <a:endParaRPr lang="en-US" sz="1050" dirty="0"/>
          </a:p>
        </p:txBody>
      </p:sp>
      <p:sp>
        <p:nvSpPr>
          <p:cNvPr id="15" name="Shape 13"/>
          <p:cNvSpPr/>
          <p:nvPr/>
        </p:nvSpPr>
        <p:spPr>
          <a:xfrm>
            <a:off x="4297680" y="1737360"/>
            <a:ext cx="3291840" cy="4297680"/>
          </a:xfrm>
          <a:prstGeom prst="roundRect">
            <a:avLst>
              <a:gd name="adj" fmla="val 4167"/>
            </a:avLst>
          </a:prstGeom>
          <a:solidFill>
            <a:srgbClr val="FFFFFF"/>
          </a:solidFill>
          <a:ln w="12700">
            <a:solidFill>
              <a:srgbClr val="E2E8F0"/>
            </a:solidFill>
            <a:prstDash val="solid"/>
          </a:ln>
        </p:spPr>
      </p:sp>
      <p:sp>
        <p:nvSpPr>
          <p:cNvPr id="16" name="Text 14"/>
          <p:cNvSpPr/>
          <p:nvPr/>
        </p:nvSpPr>
        <p:spPr>
          <a:xfrm>
            <a:off x="4572000" y="2011680"/>
            <a:ext cx="2743200" cy="457200"/>
          </a:xfrm>
          <a:prstGeom prst="rect">
            <a:avLst/>
          </a:prstGeom>
          <a:noFill/>
          <a:ln/>
        </p:spPr>
        <p:txBody>
          <a:bodyPr wrap="square" rtlCol="0" anchor="ctr"/>
          <a:lstStyle/>
          <a:p>
            <a:pPr indent="0" marL="0">
              <a:buNone/>
            </a:pPr>
            <a:r>
              <a:rPr lang="en-US" sz="1500" b="1" dirty="0">
                <a:solidFill>
                  <a:srgbClr val="2563EB"/>
                </a:solidFill>
              </a:rPr>
              <a:t>Typography &amp; Layout</a:t>
            </a:r>
            <a:endParaRPr lang="en-US" sz="1500" dirty="0"/>
          </a:p>
        </p:txBody>
      </p:sp>
      <p:sp>
        <p:nvSpPr>
          <p:cNvPr id="17" name="Shape 15"/>
          <p:cNvSpPr/>
          <p:nvPr/>
        </p:nvSpPr>
        <p:spPr>
          <a:xfrm>
            <a:off x="4572000" y="2651760"/>
            <a:ext cx="2743200" cy="868680"/>
          </a:xfrm>
          <a:prstGeom prst="roundRect">
            <a:avLst>
              <a:gd name="adj" fmla="val 10526"/>
            </a:avLst>
          </a:prstGeom>
          <a:solidFill>
            <a:srgbClr val="F8FAFC"/>
          </a:solidFill>
          <a:ln/>
        </p:spPr>
      </p:sp>
      <p:sp>
        <p:nvSpPr>
          <p:cNvPr id="18" name="Text 16"/>
          <p:cNvSpPr/>
          <p:nvPr/>
        </p:nvSpPr>
        <p:spPr>
          <a:xfrm>
            <a:off x="4709160" y="2697480"/>
            <a:ext cx="2468880" cy="777240"/>
          </a:xfrm>
          <a:prstGeom prst="rect">
            <a:avLst/>
          </a:prstGeom>
          <a:noFill/>
          <a:ln/>
        </p:spPr>
        <p:txBody>
          <a:bodyPr wrap="square" rtlCol="0" anchor="ctr"/>
          <a:lstStyle/>
          <a:p>
            <a:pPr indent="0" marL="0">
              <a:buNone/>
            </a:pPr>
            <a:r>
              <a:rPr lang="en-US" sz="1050" dirty="0">
                <a:solidFill>
                  <a:srgbClr val="1E293B"/>
                </a:solidFill>
              </a:rPr>
              <a:t>Plus Jakarta Sans for crisp readability</a:t>
            </a:r>
            <a:endParaRPr lang="en-US" sz="1050" dirty="0"/>
          </a:p>
        </p:txBody>
      </p:sp>
      <p:sp>
        <p:nvSpPr>
          <p:cNvPr id="19" name="Shape 17"/>
          <p:cNvSpPr/>
          <p:nvPr/>
        </p:nvSpPr>
        <p:spPr>
          <a:xfrm>
            <a:off x="4572000" y="3703320"/>
            <a:ext cx="2743200" cy="868680"/>
          </a:xfrm>
          <a:prstGeom prst="roundRect">
            <a:avLst>
              <a:gd name="adj" fmla="val 10526"/>
            </a:avLst>
          </a:prstGeom>
          <a:solidFill>
            <a:srgbClr val="F8FAFC"/>
          </a:solidFill>
          <a:ln/>
        </p:spPr>
      </p:sp>
      <p:sp>
        <p:nvSpPr>
          <p:cNvPr id="20" name="Text 18"/>
          <p:cNvSpPr/>
          <p:nvPr/>
        </p:nvSpPr>
        <p:spPr>
          <a:xfrm>
            <a:off x="4709160" y="3749040"/>
            <a:ext cx="2468880" cy="777240"/>
          </a:xfrm>
          <a:prstGeom prst="rect">
            <a:avLst/>
          </a:prstGeom>
          <a:noFill/>
          <a:ln/>
        </p:spPr>
        <p:txBody>
          <a:bodyPr wrap="square" rtlCol="0" anchor="ctr"/>
          <a:lstStyle/>
          <a:p>
            <a:pPr indent="0" marL="0">
              <a:buNone/>
            </a:pPr>
            <a:r>
              <a:rPr lang="en-US" sz="1050" dirty="0">
                <a:solidFill>
                  <a:srgbClr val="1E293B"/>
                </a:solidFill>
              </a:rPr>
              <a:t>Rounded Cards (border-radius: 1rem) for approachable touch</a:t>
            </a:r>
            <a:endParaRPr lang="en-US" sz="1050" dirty="0"/>
          </a:p>
        </p:txBody>
      </p:sp>
      <p:sp>
        <p:nvSpPr>
          <p:cNvPr id="21" name="Shape 19"/>
          <p:cNvSpPr/>
          <p:nvPr/>
        </p:nvSpPr>
        <p:spPr>
          <a:xfrm>
            <a:off x="4572000" y="4754880"/>
            <a:ext cx="2743200" cy="868680"/>
          </a:xfrm>
          <a:prstGeom prst="roundRect">
            <a:avLst>
              <a:gd name="adj" fmla="val 10526"/>
            </a:avLst>
          </a:prstGeom>
          <a:solidFill>
            <a:srgbClr val="F8FAFC"/>
          </a:solidFill>
          <a:ln/>
        </p:spPr>
      </p:sp>
      <p:sp>
        <p:nvSpPr>
          <p:cNvPr id="22" name="Text 20"/>
          <p:cNvSpPr/>
          <p:nvPr/>
        </p:nvSpPr>
        <p:spPr>
          <a:xfrm>
            <a:off x="4709160" y="4800600"/>
            <a:ext cx="2468880" cy="777240"/>
          </a:xfrm>
          <a:prstGeom prst="rect">
            <a:avLst/>
          </a:prstGeom>
          <a:noFill/>
          <a:ln/>
        </p:spPr>
        <p:txBody>
          <a:bodyPr wrap="square" rtlCol="0" anchor="ctr"/>
          <a:lstStyle/>
          <a:p>
            <a:pPr indent="0" marL="0">
              <a:buNone/>
            </a:pPr>
            <a:r>
              <a:rPr lang="en-US" sz="1050" dirty="0">
                <a:solidFill>
                  <a:srgbClr val="1E293B"/>
                </a:solidFill>
              </a:rPr>
              <a:t>Subtle elevated shadows without visual clutter</a:t>
            </a:r>
            <a:endParaRPr lang="en-US" sz="1050" dirty="0"/>
          </a:p>
        </p:txBody>
      </p:sp>
      <p:sp>
        <p:nvSpPr>
          <p:cNvPr id="23" name="Shape 21"/>
          <p:cNvSpPr/>
          <p:nvPr/>
        </p:nvSpPr>
        <p:spPr>
          <a:xfrm>
            <a:off x="7863840" y="1737360"/>
            <a:ext cx="3291840" cy="4297680"/>
          </a:xfrm>
          <a:prstGeom prst="roundRect">
            <a:avLst>
              <a:gd name="adj" fmla="val 4167"/>
            </a:avLst>
          </a:prstGeom>
          <a:solidFill>
            <a:srgbClr val="FFFFFF"/>
          </a:solidFill>
          <a:ln w="12700">
            <a:solidFill>
              <a:srgbClr val="E2E8F0"/>
            </a:solidFill>
            <a:prstDash val="solid"/>
          </a:ln>
        </p:spPr>
      </p:sp>
      <p:sp>
        <p:nvSpPr>
          <p:cNvPr id="24" name="Text 22"/>
          <p:cNvSpPr/>
          <p:nvPr/>
        </p:nvSpPr>
        <p:spPr>
          <a:xfrm>
            <a:off x="8138160" y="2011680"/>
            <a:ext cx="2743200" cy="457200"/>
          </a:xfrm>
          <a:prstGeom prst="rect">
            <a:avLst/>
          </a:prstGeom>
          <a:noFill/>
          <a:ln/>
        </p:spPr>
        <p:txBody>
          <a:bodyPr wrap="square" rtlCol="0" anchor="ctr"/>
          <a:lstStyle/>
          <a:p>
            <a:pPr indent="0" marL="0">
              <a:buNone/>
            </a:pPr>
            <a:r>
              <a:rPr lang="en-US" sz="1500" b="1" dirty="0">
                <a:solidFill>
                  <a:srgbClr val="2563EB"/>
                </a:solidFill>
              </a:rPr>
              <a:t>Responsive Architecture</a:t>
            </a:r>
            <a:endParaRPr lang="en-US" sz="1500" dirty="0"/>
          </a:p>
        </p:txBody>
      </p:sp>
      <p:sp>
        <p:nvSpPr>
          <p:cNvPr id="25" name="Shape 23"/>
          <p:cNvSpPr/>
          <p:nvPr/>
        </p:nvSpPr>
        <p:spPr>
          <a:xfrm>
            <a:off x="8138160" y="2651760"/>
            <a:ext cx="2743200" cy="868680"/>
          </a:xfrm>
          <a:prstGeom prst="roundRect">
            <a:avLst>
              <a:gd name="adj" fmla="val 10526"/>
            </a:avLst>
          </a:prstGeom>
          <a:solidFill>
            <a:srgbClr val="F8FAFC"/>
          </a:solidFill>
          <a:ln/>
        </p:spPr>
      </p:sp>
      <p:sp>
        <p:nvSpPr>
          <p:cNvPr id="26" name="Text 24"/>
          <p:cNvSpPr/>
          <p:nvPr/>
        </p:nvSpPr>
        <p:spPr>
          <a:xfrm>
            <a:off x="8275320" y="2697480"/>
            <a:ext cx="2468880" cy="777240"/>
          </a:xfrm>
          <a:prstGeom prst="rect">
            <a:avLst/>
          </a:prstGeom>
          <a:noFill/>
          <a:ln/>
        </p:spPr>
        <p:txBody>
          <a:bodyPr wrap="square" rtlCol="0" anchor="ctr"/>
          <a:lstStyle/>
          <a:p>
            <a:pPr indent="0" marL="0">
              <a:buNone/>
            </a:pPr>
            <a:r>
              <a:rPr lang="en-US" sz="1050" dirty="0">
                <a:solidFill>
                  <a:srgbClr val="1E293B"/>
                </a:solidFill>
              </a:rPr>
              <a:t>1-column layout on mobile smartphones</a:t>
            </a:r>
            <a:endParaRPr lang="en-US" sz="1050" dirty="0"/>
          </a:p>
        </p:txBody>
      </p:sp>
      <p:sp>
        <p:nvSpPr>
          <p:cNvPr id="27" name="Shape 25"/>
          <p:cNvSpPr/>
          <p:nvPr/>
        </p:nvSpPr>
        <p:spPr>
          <a:xfrm>
            <a:off x="8138160" y="3703320"/>
            <a:ext cx="2743200" cy="868680"/>
          </a:xfrm>
          <a:prstGeom prst="roundRect">
            <a:avLst>
              <a:gd name="adj" fmla="val 10526"/>
            </a:avLst>
          </a:prstGeom>
          <a:solidFill>
            <a:srgbClr val="F8FAFC"/>
          </a:solidFill>
          <a:ln/>
        </p:spPr>
      </p:sp>
      <p:sp>
        <p:nvSpPr>
          <p:cNvPr id="28" name="Text 26"/>
          <p:cNvSpPr/>
          <p:nvPr/>
        </p:nvSpPr>
        <p:spPr>
          <a:xfrm>
            <a:off x="8275320" y="3749040"/>
            <a:ext cx="2468880" cy="777240"/>
          </a:xfrm>
          <a:prstGeom prst="rect">
            <a:avLst/>
          </a:prstGeom>
          <a:noFill/>
          <a:ln/>
        </p:spPr>
        <p:txBody>
          <a:bodyPr wrap="square" rtlCol="0" anchor="ctr"/>
          <a:lstStyle/>
          <a:p>
            <a:pPr indent="0" marL="0">
              <a:buNone/>
            </a:pPr>
            <a:r>
              <a:rPr lang="en-US" sz="1050" dirty="0">
                <a:solidFill>
                  <a:srgbClr val="1E293B"/>
                </a:solidFill>
              </a:rPr>
              <a:t>2-column grid on tablets</a:t>
            </a:r>
            <a:endParaRPr lang="en-US" sz="1050" dirty="0"/>
          </a:p>
        </p:txBody>
      </p:sp>
      <p:sp>
        <p:nvSpPr>
          <p:cNvPr id="29" name="Shape 27"/>
          <p:cNvSpPr/>
          <p:nvPr/>
        </p:nvSpPr>
        <p:spPr>
          <a:xfrm>
            <a:off x="8138160" y="4754880"/>
            <a:ext cx="2743200" cy="868680"/>
          </a:xfrm>
          <a:prstGeom prst="roundRect">
            <a:avLst>
              <a:gd name="adj" fmla="val 10526"/>
            </a:avLst>
          </a:prstGeom>
          <a:solidFill>
            <a:srgbClr val="F8FAFC"/>
          </a:solidFill>
          <a:ln/>
        </p:spPr>
      </p:sp>
      <p:sp>
        <p:nvSpPr>
          <p:cNvPr id="30" name="Text 28"/>
          <p:cNvSpPr/>
          <p:nvPr/>
        </p:nvSpPr>
        <p:spPr>
          <a:xfrm>
            <a:off x="8275320" y="4800600"/>
            <a:ext cx="2468880" cy="777240"/>
          </a:xfrm>
          <a:prstGeom prst="rect">
            <a:avLst/>
          </a:prstGeom>
          <a:noFill/>
          <a:ln/>
        </p:spPr>
        <p:txBody>
          <a:bodyPr wrap="square" rtlCol="0" anchor="ctr"/>
          <a:lstStyle/>
          <a:p>
            <a:pPr indent="0" marL="0">
              <a:buNone/>
            </a:pPr>
            <a:r>
              <a:rPr lang="en-US" sz="1050" dirty="0">
                <a:solidFill>
                  <a:srgbClr val="1E293B"/>
                </a:solidFill>
              </a:rPr>
              <a:t>4-column product showcase on high-res desktops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57200"/>
            <a:ext cx="2377440" cy="320040"/>
          </a:xfrm>
          <a:prstGeom prst="roundRect">
            <a:avLst>
              <a:gd name="adj" fmla="val 28571"/>
            </a:avLst>
          </a:prstGeom>
          <a:solidFill>
            <a:srgbClr val="EFF6FF"/>
          </a:solidFill>
          <a:ln w="12700">
            <a:solidFill>
              <a:srgbClr val="BFDBFE"/>
            </a:solidFill>
            <a:prstDash val="solid"/>
          </a:ln>
        </p:spPr>
      </p:sp>
      <p:sp>
        <p:nvSpPr>
          <p:cNvPr id="3" name="Text 1"/>
          <p:cNvSpPr/>
          <p:nvPr/>
        </p:nvSpPr>
        <p:spPr>
          <a:xfrm>
            <a:off x="731520" y="457200"/>
            <a:ext cx="2377440" cy="320040"/>
          </a:xfrm>
          <a:prstGeom prst="rect">
            <a:avLst/>
          </a:prstGeom>
          <a:noFill/>
          <a:ln/>
        </p:spPr>
        <p:txBody>
          <a:bodyPr wrap="square" rtlCol="0" anchor="ctr"/>
          <a:lstStyle/>
          <a:p>
            <a:pPr algn="ctr" indent="0" marL="0">
              <a:buNone/>
            </a:pPr>
            <a:r>
              <a:rPr lang="en-US" sz="900" b="1" dirty="0">
                <a:solidFill>
                  <a:srgbClr val="2563EB"/>
                </a:solidFill>
              </a:rPr>
              <a:t>SEARCH &amp; FILTERING</a:t>
            </a:r>
            <a:endParaRPr lang="en-US" sz="9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Catalog Discovery &amp; Dynamic Sorting Engine</a:t>
            </a:r>
            <a:endParaRPr lang="en-US" sz="2200" dirty="0"/>
          </a:p>
        </p:txBody>
      </p:sp>
      <p:sp>
        <p:nvSpPr>
          <p:cNvPr id="5" name="Shape 3"/>
          <p:cNvSpPr/>
          <p:nvPr/>
        </p:nvSpPr>
        <p:spPr>
          <a:xfrm>
            <a:off x="0" y="0"/>
            <a:ext cx="9144000" cy="73152"/>
          </a:xfrm>
          <a:prstGeom prst="rect">
            <a:avLst/>
          </a:prstGeom>
          <a:solidFill>
            <a:srgbClr val="2563EB"/>
          </a:solidFill>
          <a:ln/>
        </p:spPr>
      </p:sp>
      <p:sp>
        <p:nvSpPr>
          <p:cNvPr id="6" name="Text 4"/>
          <p:cNvSpPr/>
          <p:nvPr/>
        </p:nvSpPr>
        <p:spPr>
          <a:xfrm>
            <a:off x="731520" y="6400800"/>
            <a:ext cx="4572000" cy="274320"/>
          </a:xfrm>
          <a:prstGeom prst="rect">
            <a:avLst/>
          </a:prstGeom>
          <a:noFill/>
          <a:ln/>
        </p:spPr>
        <p:txBody>
          <a:bodyPr wrap="square" rtlCol="0" anchor="ctr"/>
          <a:lstStyle/>
          <a:p>
            <a:pPr indent="0" marL="0">
              <a:buNone/>
            </a:pPr>
            <a:r>
              <a:rPr lang="en-US" sz="900" dirty="0">
                <a:solidFill>
                  <a:srgbClr val="64748B"/>
                </a:solidFill>
              </a:rPr>
              <a:t>BookLoop  |  Read More. Spend Less.</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737360"/>
          <a:ext cx="10424160" cy="914400"/>
        </p:xfrm>
        <a:graphic>
          <a:graphicData uri="http://schemas.openxmlformats.org/drawingml/2006/table">
            <a:tbl>
              <a:tblPr/>
              <a:tblGrid>
                <a:gridCol w="2286000"/>
                <a:gridCol w="4572000"/>
                <a:gridCol w="3566160"/>
              </a:tblGrid>
              <a:tr h="502920">
                <a:tc>
                  <a:txBody>
                    <a:bodyPr/>
                    <a:lstStyle/>
                    <a:p>
                      <a:pPr indent="0" marL="0">
                        <a:buNone/>
                      </a:pPr>
                      <a:r>
                        <a:rPr lang="en-US" sz="1050" b="1" dirty="0">
                          <a:solidFill>
                            <a:srgbClr val="FFFFFF"/>
                          </a:solidFill>
                        </a:rPr>
                        <a:t>Filter Dimension</a:t>
                      </a:r>
                      <a:endParaRPr lang="en-US" sz="105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indent="0" marL="0">
                        <a:buNone/>
                      </a:pPr>
                      <a:r>
                        <a:rPr lang="en-US" sz="1050" b="1" dirty="0">
                          <a:solidFill>
                            <a:srgbClr val="FFFFFF"/>
                          </a:solidFill>
                        </a:rPr>
                        <a:t>Options / Criteria Available</a:t>
                      </a:r>
                      <a:endParaRPr lang="en-US" sz="105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indent="0" marL="0">
                        <a:buNone/>
                      </a:pPr>
                      <a:r>
                        <a:rPr lang="en-US" sz="1050" b="1" dirty="0">
                          <a:solidFill>
                            <a:srgbClr val="FFFFFF"/>
                          </a:solidFill>
                        </a:rPr>
                        <a:t>Student Benefit</a:t>
                      </a:r>
                      <a:endParaRPr lang="en-US" sz="105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r>
              <a:tr h="822960">
                <a:tc>
                  <a:txBody>
                    <a:bodyPr/>
                    <a:lstStyle/>
                    <a:p>
                      <a:pPr indent="0" marL="0">
                        <a:buNone/>
                      </a:pPr>
                      <a:r>
                        <a:rPr lang="en-US" sz="1050" b="1" dirty="0">
                          <a:solidFill>
                            <a:srgbClr val="000000"/>
                          </a:solidFill>
                        </a:rPr>
                        <a:t>Academic Stream</a:t>
                      </a:r>
                      <a:endParaRPr lang="en-US" sz="105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rPr>
                        <a:t>Engineering, CS/IT, Medical, Commerce, Humanities, School, Exams, Notes</a:t>
                      </a:r>
                      <a:endParaRPr lang="en-US" sz="105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rPr>
                        <a:t>Finds exact syllabus requirements without unrelated search noise</a:t>
                      </a:r>
                      <a:endParaRPr lang="en-US" sz="105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822960">
                <a:tc>
                  <a:txBody>
                    <a:bodyPr/>
                    <a:lstStyle/>
                    <a:p>
                      <a:pPr indent="0" marL="0">
                        <a:buNone/>
                      </a:pPr>
                      <a:r>
                        <a:rPr lang="en-US" sz="1050" b="1" dirty="0">
                          <a:solidFill>
                            <a:srgbClr val="000000"/>
                          </a:solidFill>
                        </a:rPr>
                        <a:t>Physical Condition</a:t>
                      </a:r>
                      <a:endParaRPr lang="en-US" sz="105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rPr>
                        <a:t>Like New (Unmarked), Good (Minor highlights), Acceptable (Aged)</a:t>
                      </a:r>
                      <a:endParaRPr lang="en-US" sz="105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rPr>
                        <a:t>Transparent wear expectations before meeting seller</a:t>
                      </a:r>
                      <a:endParaRPr lang="en-US" sz="105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822960">
                <a:tc>
                  <a:txBody>
                    <a:bodyPr/>
                    <a:lstStyle/>
                    <a:p>
                      <a:pPr indent="0" marL="0">
                        <a:buNone/>
                      </a:pPr>
                      <a:r>
                        <a:rPr lang="en-US" sz="1050" b="1" dirty="0">
                          <a:solidFill>
                            <a:srgbClr val="000000"/>
                          </a:solidFill>
                        </a:rPr>
                        <a:t>Price Bracket (₹)</a:t>
                      </a:r>
                      <a:endParaRPr lang="en-US" sz="105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rPr>
                        <a:t>Under ₹200, ₹200 - ₹500, ₹500 - ₹1000, Above ₹1000</a:t>
                      </a:r>
                      <a:endParaRPr lang="en-US" sz="105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rPr>
                        <a:t>Allows strict adherence to monthly pocket allowances</a:t>
                      </a:r>
                      <a:endParaRPr lang="en-US" sz="105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822960">
                <a:tc>
                  <a:txBody>
                    <a:bodyPr/>
                    <a:lstStyle/>
                    <a:p>
                      <a:pPr indent="0" marL="0">
                        <a:buNone/>
                      </a:pPr>
                      <a:r>
                        <a:rPr lang="en-US" sz="1050" b="1" dirty="0">
                          <a:solidFill>
                            <a:srgbClr val="000000"/>
                          </a:solidFill>
                        </a:rPr>
                        <a:t>Sorting Algorithm</a:t>
                      </a:r>
                      <a:endParaRPr lang="en-US" sz="105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rPr>
                        <a:t>Newest First, Price: Low to High, Price: High to Low, Highest Discount</a:t>
                      </a:r>
                      <a:endParaRPr lang="en-US" sz="105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rPr>
                        <a:t>Spot the freshest deals and deepest discounts immediately</a:t>
                      </a:r>
                      <a:endParaRPr lang="en-US" sz="105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57200"/>
            <a:ext cx="2377440" cy="320040"/>
          </a:xfrm>
          <a:prstGeom prst="roundRect">
            <a:avLst>
              <a:gd name="adj" fmla="val 28571"/>
            </a:avLst>
          </a:prstGeom>
          <a:solidFill>
            <a:srgbClr val="EFF6FF"/>
          </a:solidFill>
          <a:ln w="12700">
            <a:solidFill>
              <a:srgbClr val="BFDBFE"/>
            </a:solidFill>
            <a:prstDash val="solid"/>
          </a:ln>
        </p:spPr>
      </p:sp>
      <p:sp>
        <p:nvSpPr>
          <p:cNvPr id="3" name="Text 1"/>
          <p:cNvSpPr/>
          <p:nvPr/>
        </p:nvSpPr>
        <p:spPr>
          <a:xfrm>
            <a:off x="731520" y="457200"/>
            <a:ext cx="2377440" cy="320040"/>
          </a:xfrm>
          <a:prstGeom prst="rect">
            <a:avLst/>
          </a:prstGeom>
          <a:noFill/>
          <a:ln/>
        </p:spPr>
        <p:txBody>
          <a:bodyPr wrap="square" rtlCol="0" anchor="ctr"/>
          <a:lstStyle/>
          <a:p>
            <a:pPr algn="ctr" indent="0" marL="0">
              <a:buNone/>
            </a:pPr>
            <a:r>
              <a:rPr lang="en-US" sz="900" b="1" dirty="0">
                <a:solidFill>
                  <a:srgbClr val="2563EB"/>
                </a:solidFill>
              </a:rPr>
              <a:t>BUYER-SELLER INTERACTION</a:t>
            </a:r>
            <a:endParaRPr lang="en-US" sz="9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Inspection, Communication &amp; Safe Campus Meetup</a:t>
            </a:r>
            <a:endParaRPr lang="en-US" sz="2200" dirty="0"/>
          </a:p>
        </p:txBody>
      </p:sp>
      <p:sp>
        <p:nvSpPr>
          <p:cNvPr id="5" name="Shape 3"/>
          <p:cNvSpPr/>
          <p:nvPr/>
        </p:nvSpPr>
        <p:spPr>
          <a:xfrm>
            <a:off x="0" y="0"/>
            <a:ext cx="9144000" cy="73152"/>
          </a:xfrm>
          <a:prstGeom prst="rect">
            <a:avLst/>
          </a:prstGeom>
          <a:solidFill>
            <a:srgbClr val="2563EB"/>
          </a:solidFill>
          <a:ln/>
        </p:spPr>
      </p:sp>
      <p:sp>
        <p:nvSpPr>
          <p:cNvPr id="6" name="Text 4"/>
          <p:cNvSpPr/>
          <p:nvPr/>
        </p:nvSpPr>
        <p:spPr>
          <a:xfrm>
            <a:off x="731520" y="6400800"/>
            <a:ext cx="4572000" cy="274320"/>
          </a:xfrm>
          <a:prstGeom prst="rect">
            <a:avLst/>
          </a:prstGeom>
          <a:noFill/>
          <a:ln/>
        </p:spPr>
        <p:txBody>
          <a:bodyPr wrap="square" rtlCol="0" anchor="ctr"/>
          <a:lstStyle/>
          <a:p>
            <a:pPr indent="0" marL="0">
              <a:buNone/>
            </a:pPr>
            <a:r>
              <a:rPr lang="en-US" sz="900" dirty="0">
                <a:solidFill>
                  <a:srgbClr val="64748B"/>
                </a:solidFill>
              </a:rPr>
              <a:t>BookLoop  |  Read More. Spend Less.</a:t>
            </a:r>
            <a:endParaRPr lang="en-US" sz="900" dirty="0"/>
          </a:p>
        </p:txBody>
      </p:sp>
      <p:sp>
        <p:nvSpPr>
          <p:cNvPr id="7" name="Shape 5"/>
          <p:cNvSpPr/>
          <p:nvPr/>
        </p:nvSpPr>
        <p:spPr>
          <a:xfrm>
            <a:off x="731520" y="1737360"/>
            <a:ext cx="2468880" cy="4297680"/>
          </a:xfrm>
          <a:prstGeom prst="roundRect">
            <a:avLst>
              <a:gd name="adj" fmla="val 5556"/>
            </a:avLst>
          </a:prstGeom>
          <a:solidFill>
            <a:srgbClr val="FFFFFF"/>
          </a:solidFill>
          <a:ln w="12700">
            <a:solidFill>
              <a:srgbClr val="E2E8F0"/>
            </a:solidFill>
            <a:prstDash val="solid"/>
          </a:ln>
        </p:spPr>
      </p:sp>
      <p:sp>
        <p:nvSpPr>
          <p:cNvPr id="8" name="Shape 6"/>
          <p:cNvSpPr/>
          <p:nvPr/>
        </p:nvSpPr>
        <p:spPr>
          <a:xfrm>
            <a:off x="1600200" y="2011680"/>
            <a:ext cx="731520" cy="731520"/>
          </a:xfrm>
          <a:prstGeom prst="ellipse">
            <a:avLst/>
          </a:prstGeom>
          <a:solidFill>
            <a:srgbClr val="2563EB"/>
          </a:solidFill>
          <a:ln/>
        </p:spPr>
      </p:sp>
      <p:sp>
        <p:nvSpPr>
          <p:cNvPr id="9" name="Text 7"/>
          <p:cNvSpPr/>
          <p:nvPr/>
        </p:nvSpPr>
        <p:spPr>
          <a:xfrm>
            <a:off x="1600200" y="2011680"/>
            <a:ext cx="731520" cy="731520"/>
          </a:xfrm>
          <a:prstGeom prst="rect">
            <a:avLst/>
          </a:prstGeom>
          <a:noFill/>
          <a:ln/>
        </p:spPr>
        <p:txBody>
          <a:bodyPr wrap="square" rtlCol="0" anchor="ctr"/>
          <a:lstStyle/>
          <a:p>
            <a:pPr algn="ctr" indent="0" marL="0">
              <a:buNone/>
            </a:pPr>
            <a:r>
              <a:rPr lang="en-US" sz="1600" b="1" dirty="0">
                <a:solidFill>
                  <a:srgbClr val="FFFFFF"/>
                </a:solidFill>
              </a:rPr>
              <a:t>1</a:t>
            </a:r>
            <a:endParaRPr lang="en-US" sz="1600" dirty="0"/>
          </a:p>
        </p:txBody>
      </p:sp>
      <p:sp>
        <p:nvSpPr>
          <p:cNvPr id="10" name="Text 8"/>
          <p:cNvSpPr/>
          <p:nvPr/>
        </p:nvSpPr>
        <p:spPr>
          <a:xfrm>
            <a:off x="914400" y="2926080"/>
            <a:ext cx="2103120" cy="548640"/>
          </a:xfrm>
          <a:prstGeom prst="rect">
            <a:avLst/>
          </a:prstGeom>
          <a:noFill/>
          <a:ln/>
        </p:spPr>
        <p:txBody>
          <a:bodyPr wrap="square" rtlCol="0" anchor="ctr"/>
          <a:lstStyle/>
          <a:p>
            <a:pPr algn="ctr" indent="0" marL="0">
              <a:buNone/>
            </a:pPr>
            <a:r>
              <a:rPr lang="en-US" sz="1300" b="1" dirty="0">
                <a:solidFill>
                  <a:srgbClr val="1E293B"/>
                </a:solidFill>
              </a:rPr>
              <a:t>1. Inspect Details</a:t>
            </a:r>
            <a:endParaRPr lang="en-US" sz="1300" dirty="0"/>
          </a:p>
        </p:txBody>
      </p:sp>
      <p:sp>
        <p:nvSpPr>
          <p:cNvPr id="11" name="Text 9"/>
          <p:cNvSpPr/>
          <p:nvPr/>
        </p:nvSpPr>
        <p:spPr>
          <a:xfrm>
            <a:off x="960120" y="3566160"/>
            <a:ext cx="2011680" cy="2194560"/>
          </a:xfrm>
          <a:prstGeom prst="rect">
            <a:avLst/>
          </a:prstGeom>
          <a:noFill/>
          <a:ln/>
        </p:spPr>
        <p:txBody>
          <a:bodyPr wrap="square" rtlCol="0" anchor="ctr"/>
          <a:lstStyle/>
          <a:p>
            <a:pPr algn="ctr" indent="0" marL="0">
              <a:lnSpc>
                <a:spcPts val="1600"/>
              </a:lnSpc>
              <a:buNone/>
            </a:pPr>
            <a:r>
              <a:rPr lang="en-US" sz="1050" dirty="0">
                <a:solidFill>
                  <a:srgbClr val="64748B"/>
                </a:solidFill>
              </a:rPr>
              <a:t>Read transparent wear notes (e.g. "pencil markings on 3 pages, spine intact"), verify edition year, and see savings vs MRP.</a:t>
            </a:r>
            <a:endParaRPr lang="en-US" sz="1050" dirty="0"/>
          </a:p>
        </p:txBody>
      </p:sp>
      <p:sp>
        <p:nvSpPr>
          <p:cNvPr id="12" name="Shape 10"/>
          <p:cNvSpPr/>
          <p:nvPr/>
        </p:nvSpPr>
        <p:spPr>
          <a:xfrm>
            <a:off x="3383280" y="1737360"/>
            <a:ext cx="2468880" cy="4297680"/>
          </a:xfrm>
          <a:prstGeom prst="roundRect">
            <a:avLst>
              <a:gd name="adj" fmla="val 5556"/>
            </a:avLst>
          </a:prstGeom>
          <a:solidFill>
            <a:srgbClr val="FFFFFF"/>
          </a:solidFill>
          <a:ln w="12700">
            <a:solidFill>
              <a:srgbClr val="E2E8F0"/>
            </a:solidFill>
            <a:prstDash val="solid"/>
          </a:ln>
        </p:spPr>
      </p:sp>
      <p:sp>
        <p:nvSpPr>
          <p:cNvPr id="13" name="Shape 11"/>
          <p:cNvSpPr/>
          <p:nvPr/>
        </p:nvSpPr>
        <p:spPr>
          <a:xfrm>
            <a:off x="4251960" y="2011680"/>
            <a:ext cx="731520" cy="731520"/>
          </a:xfrm>
          <a:prstGeom prst="ellipse">
            <a:avLst/>
          </a:prstGeom>
          <a:solidFill>
            <a:srgbClr val="F97316"/>
          </a:solidFill>
          <a:ln/>
        </p:spPr>
      </p:sp>
      <p:sp>
        <p:nvSpPr>
          <p:cNvPr id="14" name="Text 12"/>
          <p:cNvSpPr/>
          <p:nvPr/>
        </p:nvSpPr>
        <p:spPr>
          <a:xfrm>
            <a:off x="4251960" y="2011680"/>
            <a:ext cx="731520" cy="731520"/>
          </a:xfrm>
          <a:prstGeom prst="rect">
            <a:avLst/>
          </a:prstGeom>
          <a:noFill/>
          <a:ln/>
        </p:spPr>
        <p:txBody>
          <a:bodyPr wrap="square" rtlCol="0" anchor="ctr"/>
          <a:lstStyle/>
          <a:p>
            <a:pPr algn="ctr" indent="0" marL="0">
              <a:buNone/>
            </a:pPr>
            <a:r>
              <a:rPr lang="en-US" sz="1600" b="1" dirty="0">
                <a:solidFill>
                  <a:srgbClr val="FFFFFF"/>
                </a:solidFill>
              </a:rPr>
              <a:t>2</a:t>
            </a:r>
            <a:endParaRPr lang="en-US" sz="1600" dirty="0"/>
          </a:p>
        </p:txBody>
      </p:sp>
      <p:sp>
        <p:nvSpPr>
          <p:cNvPr id="15" name="Text 13"/>
          <p:cNvSpPr/>
          <p:nvPr/>
        </p:nvSpPr>
        <p:spPr>
          <a:xfrm>
            <a:off x="3566160" y="2926080"/>
            <a:ext cx="2103120" cy="548640"/>
          </a:xfrm>
          <a:prstGeom prst="rect">
            <a:avLst/>
          </a:prstGeom>
          <a:noFill/>
          <a:ln/>
        </p:spPr>
        <p:txBody>
          <a:bodyPr wrap="square" rtlCol="0" anchor="ctr"/>
          <a:lstStyle/>
          <a:p>
            <a:pPr algn="ctr" indent="0" marL="0">
              <a:buNone/>
            </a:pPr>
            <a:r>
              <a:rPr lang="en-US" sz="1300" b="1" dirty="0">
                <a:solidFill>
                  <a:srgbClr val="1E293B"/>
                </a:solidFill>
              </a:rPr>
              <a:t>2. One-Click Contact</a:t>
            </a:r>
            <a:endParaRPr lang="en-US" sz="1300" dirty="0"/>
          </a:p>
        </p:txBody>
      </p:sp>
      <p:sp>
        <p:nvSpPr>
          <p:cNvPr id="16" name="Text 14"/>
          <p:cNvSpPr/>
          <p:nvPr/>
        </p:nvSpPr>
        <p:spPr>
          <a:xfrm>
            <a:off x="3611880" y="3566160"/>
            <a:ext cx="2011680" cy="2194560"/>
          </a:xfrm>
          <a:prstGeom prst="rect">
            <a:avLst/>
          </a:prstGeom>
          <a:noFill/>
          <a:ln/>
        </p:spPr>
        <p:txBody>
          <a:bodyPr wrap="square" rtlCol="0" anchor="ctr"/>
          <a:lstStyle/>
          <a:p>
            <a:pPr algn="ctr" indent="0" marL="0">
              <a:lnSpc>
                <a:spcPts val="1600"/>
              </a:lnSpc>
              <a:buNone/>
            </a:pPr>
            <a:r>
              <a:rPr lang="en-US" sz="1050" dirty="0">
                <a:solidFill>
                  <a:srgbClr val="64748B"/>
                </a:solidFill>
              </a:rPr>
              <a:t>Connect directly through pre-filled WhatsApp chat, telephone call, or email without sharing credentials with 3rd parties.</a:t>
            </a:r>
            <a:endParaRPr lang="en-US" sz="1050" dirty="0"/>
          </a:p>
        </p:txBody>
      </p:sp>
      <p:sp>
        <p:nvSpPr>
          <p:cNvPr id="17" name="Shape 15"/>
          <p:cNvSpPr/>
          <p:nvPr/>
        </p:nvSpPr>
        <p:spPr>
          <a:xfrm>
            <a:off x="6035040" y="1737360"/>
            <a:ext cx="2468880" cy="4297680"/>
          </a:xfrm>
          <a:prstGeom prst="roundRect">
            <a:avLst>
              <a:gd name="adj" fmla="val 5556"/>
            </a:avLst>
          </a:prstGeom>
          <a:solidFill>
            <a:srgbClr val="FFFFFF"/>
          </a:solidFill>
          <a:ln w="12700">
            <a:solidFill>
              <a:srgbClr val="E2E8F0"/>
            </a:solidFill>
            <a:prstDash val="solid"/>
          </a:ln>
        </p:spPr>
      </p:sp>
      <p:sp>
        <p:nvSpPr>
          <p:cNvPr id="18" name="Shape 16"/>
          <p:cNvSpPr/>
          <p:nvPr/>
        </p:nvSpPr>
        <p:spPr>
          <a:xfrm>
            <a:off x="6903720" y="2011680"/>
            <a:ext cx="731520" cy="731520"/>
          </a:xfrm>
          <a:prstGeom prst="ellipse">
            <a:avLst/>
          </a:prstGeom>
          <a:solidFill>
            <a:srgbClr val="2563EB"/>
          </a:solidFill>
          <a:ln/>
        </p:spPr>
      </p:sp>
      <p:sp>
        <p:nvSpPr>
          <p:cNvPr id="19" name="Text 17"/>
          <p:cNvSpPr/>
          <p:nvPr/>
        </p:nvSpPr>
        <p:spPr>
          <a:xfrm>
            <a:off x="6903720" y="2011680"/>
            <a:ext cx="731520" cy="731520"/>
          </a:xfrm>
          <a:prstGeom prst="rect">
            <a:avLst/>
          </a:prstGeom>
          <a:noFill/>
          <a:ln/>
        </p:spPr>
        <p:txBody>
          <a:bodyPr wrap="square" rtlCol="0" anchor="ctr"/>
          <a:lstStyle/>
          <a:p>
            <a:pPr algn="ctr" indent="0" marL="0">
              <a:buNone/>
            </a:pPr>
            <a:r>
              <a:rPr lang="en-US" sz="1600" b="1" dirty="0">
                <a:solidFill>
                  <a:srgbClr val="FFFFFF"/>
                </a:solidFill>
              </a:rPr>
              <a:t>3</a:t>
            </a:r>
            <a:endParaRPr lang="en-US" sz="1600" dirty="0"/>
          </a:p>
        </p:txBody>
      </p:sp>
      <p:sp>
        <p:nvSpPr>
          <p:cNvPr id="20" name="Text 18"/>
          <p:cNvSpPr/>
          <p:nvPr/>
        </p:nvSpPr>
        <p:spPr>
          <a:xfrm>
            <a:off x="6217920" y="2926080"/>
            <a:ext cx="2103120" cy="548640"/>
          </a:xfrm>
          <a:prstGeom prst="rect">
            <a:avLst/>
          </a:prstGeom>
          <a:noFill/>
          <a:ln/>
        </p:spPr>
        <p:txBody>
          <a:bodyPr wrap="square" rtlCol="0" anchor="ctr"/>
          <a:lstStyle/>
          <a:p>
            <a:pPr algn="ctr" indent="0" marL="0">
              <a:buNone/>
            </a:pPr>
            <a:r>
              <a:rPr lang="en-US" sz="1300" b="1" dirty="0">
                <a:solidFill>
                  <a:srgbClr val="1E293B"/>
                </a:solidFill>
              </a:rPr>
              <a:t>3. Campus Public Meetup</a:t>
            </a:r>
            <a:endParaRPr lang="en-US" sz="1300" dirty="0"/>
          </a:p>
        </p:txBody>
      </p:sp>
      <p:sp>
        <p:nvSpPr>
          <p:cNvPr id="21" name="Text 19"/>
          <p:cNvSpPr/>
          <p:nvPr/>
        </p:nvSpPr>
        <p:spPr>
          <a:xfrm>
            <a:off x="6263640" y="3566160"/>
            <a:ext cx="2011680" cy="2194560"/>
          </a:xfrm>
          <a:prstGeom prst="rect">
            <a:avLst/>
          </a:prstGeom>
          <a:noFill/>
          <a:ln/>
        </p:spPr>
        <p:txBody>
          <a:bodyPr wrap="square" rtlCol="0" anchor="ctr"/>
          <a:lstStyle/>
          <a:p>
            <a:pPr algn="ctr" indent="0" marL="0">
              <a:lnSpc>
                <a:spcPts val="1600"/>
              </a:lnSpc>
              <a:buNone/>
            </a:pPr>
            <a:r>
              <a:rPr lang="en-US" sz="1050" dirty="0">
                <a:solidFill>
                  <a:srgbClr val="64748B"/>
                </a:solidFill>
              </a:rPr>
              <a:t>Meet at college library, student center, or canteen. Inspect the physical book pages and verify completeness.</a:t>
            </a:r>
            <a:endParaRPr lang="en-US" sz="1050" dirty="0"/>
          </a:p>
        </p:txBody>
      </p:sp>
      <p:sp>
        <p:nvSpPr>
          <p:cNvPr id="22" name="Shape 20"/>
          <p:cNvSpPr/>
          <p:nvPr/>
        </p:nvSpPr>
        <p:spPr>
          <a:xfrm>
            <a:off x="8686800" y="1737360"/>
            <a:ext cx="2468880" cy="4297680"/>
          </a:xfrm>
          <a:prstGeom prst="roundRect">
            <a:avLst>
              <a:gd name="adj" fmla="val 5556"/>
            </a:avLst>
          </a:prstGeom>
          <a:solidFill>
            <a:srgbClr val="FFFFFF"/>
          </a:solidFill>
          <a:ln w="12700">
            <a:solidFill>
              <a:srgbClr val="E2E8F0"/>
            </a:solidFill>
            <a:prstDash val="solid"/>
          </a:ln>
        </p:spPr>
      </p:sp>
      <p:sp>
        <p:nvSpPr>
          <p:cNvPr id="23" name="Shape 21"/>
          <p:cNvSpPr/>
          <p:nvPr/>
        </p:nvSpPr>
        <p:spPr>
          <a:xfrm>
            <a:off x="9555480" y="2011680"/>
            <a:ext cx="731520" cy="731520"/>
          </a:xfrm>
          <a:prstGeom prst="ellipse">
            <a:avLst/>
          </a:prstGeom>
          <a:solidFill>
            <a:srgbClr val="F97316"/>
          </a:solidFill>
          <a:ln/>
        </p:spPr>
      </p:sp>
      <p:sp>
        <p:nvSpPr>
          <p:cNvPr id="24" name="Text 22"/>
          <p:cNvSpPr/>
          <p:nvPr/>
        </p:nvSpPr>
        <p:spPr>
          <a:xfrm>
            <a:off x="9555480" y="2011680"/>
            <a:ext cx="731520" cy="731520"/>
          </a:xfrm>
          <a:prstGeom prst="rect">
            <a:avLst/>
          </a:prstGeom>
          <a:noFill/>
          <a:ln/>
        </p:spPr>
        <p:txBody>
          <a:bodyPr wrap="square" rtlCol="0" anchor="ctr"/>
          <a:lstStyle/>
          <a:p>
            <a:pPr algn="ctr" indent="0" marL="0">
              <a:buNone/>
            </a:pPr>
            <a:r>
              <a:rPr lang="en-US" sz="1600" b="1" dirty="0">
                <a:solidFill>
                  <a:srgbClr val="FFFFFF"/>
                </a:solidFill>
              </a:rPr>
              <a:t>4</a:t>
            </a:r>
            <a:endParaRPr lang="en-US" sz="1600" dirty="0"/>
          </a:p>
        </p:txBody>
      </p:sp>
      <p:sp>
        <p:nvSpPr>
          <p:cNvPr id="25" name="Text 23"/>
          <p:cNvSpPr/>
          <p:nvPr/>
        </p:nvSpPr>
        <p:spPr>
          <a:xfrm>
            <a:off x="8869680" y="2926080"/>
            <a:ext cx="2103120" cy="548640"/>
          </a:xfrm>
          <a:prstGeom prst="rect">
            <a:avLst/>
          </a:prstGeom>
          <a:noFill/>
          <a:ln/>
        </p:spPr>
        <p:txBody>
          <a:bodyPr wrap="square" rtlCol="0" anchor="ctr"/>
          <a:lstStyle/>
          <a:p>
            <a:pPr algn="ctr" indent="0" marL="0">
              <a:buNone/>
            </a:pPr>
            <a:r>
              <a:rPr lang="en-US" sz="1300" b="1" dirty="0">
                <a:solidFill>
                  <a:srgbClr val="1E293B"/>
                </a:solidFill>
              </a:rPr>
              <a:t>4. Instant Cashless Pay</a:t>
            </a:r>
            <a:endParaRPr lang="en-US" sz="1300" dirty="0"/>
          </a:p>
        </p:txBody>
      </p:sp>
      <p:sp>
        <p:nvSpPr>
          <p:cNvPr id="26" name="Text 24"/>
          <p:cNvSpPr/>
          <p:nvPr/>
        </p:nvSpPr>
        <p:spPr>
          <a:xfrm>
            <a:off x="8915400" y="3566160"/>
            <a:ext cx="2011680" cy="2194560"/>
          </a:xfrm>
          <a:prstGeom prst="rect">
            <a:avLst/>
          </a:prstGeom>
          <a:noFill/>
          <a:ln/>
        </p:spPr>
        <p:txBody>
          <a:bodyPr wrap="square" rtlCol="0" anchor="ctr"/>
          <a:lstStyle/>
          <a:p>
            <a:pPr algn="ctr" indent="0" marL="0">
              <a:lnSpc>
                <a:spcPts val="1600"/>
              </a:lnSpc>
              <a:buNone/>
            </a:pPr>
            <a:r>
              <a:rPr lang="en-US" sz="1050" dirty="0">
                <a:solidFill>
                  <a:srgbClr val="64748B"/>
                </a:solidFill>
              </a:rPr>
              <a:t>Complete transaction securely using standard UPI (Google Pay, PhonePe) or cash upon physical receipt.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57200"/>
            <a:ext cx="2377440" cy="320040"/>
          </a:xfrm>
          <a:prstGeom prst="roundRect">
            <a:avLst>
              <a:gd name="adj" fmla="val 28571"/>
            </a:avLst>
          </a:prstGeom>
          <a:solidFill>
            <a:srgbClr val="EFF6FF"/>
          </a:solidFill>
          <a:ln w="12700">
            <a:solidFill>
              <a:srgbClr val="BFDBFE"/>
            </a:solidFill>
            <a:prstDash val="solid"/>
          </a:ln>
        </p:spPr>
      </p:sp>
      <p:sp>
        <p:nvSpPr>
          <p:cNvPr id="3" name="Text 1"/>
          <p:cNvSpPr/>
          <p:nvPr/>
        </p:nvSpPr>
        <p:spPr>
          <a:xfrm>
            <a:off x="731520" y="457200"/>
            <a:ext cx="2377440" cy="320040"/>
          </a:xfrm>
          <a:prstGeom prst="rect">
            <a:avLst/>
          </a:prstGeom>
          <a:noFill/>
          <a:ln/>
        </p:spPr>
        <p:txBody>
          <a:bodyPr wrap="square" rtlCol="0" anchor="ctr"/>
          <a:lstStyle/>
          <a:p>
            <a:pPr algn="ctr" indent="0" marL="0">
              <a:buNone/>
            </a:pPr>
            <a:r>
              <a:rPr lang="en-US" sz="900" b="1" dirty="0">
                <a:solidFill>
                  <a:srgbClr val="2563EB"/>
                </a:solidFill>
              </a:rPr>
              <a:t>TECHNICAL ARCHITECTURE</a:t>
            </a:r>
            <a:endParaRPr lang="en-US" sz="9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Full Stack Technology Stack &amp; Implementation</a:t>
            </a:r>
            <a:endParaRPr lang="en-US" sz="2200" dirty="0"/>
          </a:p>
        </p:txBody>
      </p:sp>
      <p:sp>
        <p:nvSpPr>
          <p:cNvPr id="5" name="Shape 3"/>
          <p:cNvSpPr/>
          <p:nvPr/>
        </p:nvSpPr>
        <p:spPr>
          <a:xfrm>
            <a:off x="0" y="0"/>
            <a:ext cx="9144000" cy="73152"/>
          </a:xfrm>
          <a:prstGeom prst="rect">
            <a:avLst/>
          </a:prstGeom>
          <a:solidFill>
            <a:srgbClr val="2563EB"/>
          </a:solidFill>
          <a:ln/>
        </p:spPr>
      </p:sp>
      <p:sp>
        <p:nvSpPr>
          <p:cNvPr id="6" name="Text 4"/>
          <p:cNvSpPr/>
          <p:nvPr/>
        </p:nvSpPr>
        <p:spPr>
          <a:xfrm>
            <a:off x="731520" y="6400800"/>
            <a:ext cx="4572000" cy="274320"/>
          </a:xfrm>
          <a:prstGeom prst="rect">
            <a:avLst/>
          </a:prstGeom>
          <a:noFill/>
          <a:ln/>
        </p:spPr>
        <p:txBody>
          <a:bodyPr wrap="square" rtlCol="0" anchor="ctr"/>
          <a:lstStyle/>
          <a:p>
            <a:pPr indent="0" marL="0">
              <a:buNone/>
            </a:pPr>
            <a:r>
              <a:rPr lang="en-US" sz="900" dirty="0">
                <a:solidFill>
                  <a:srgbClr val="64748B"/>
                </a:solidFill>
              </a:rPr>
              <a:t>BookLoop  |  Read More. Spend Less.</a:t>
            </a:r>
            <a:endParaRPr lang="en-US" sz="900" dirty="0"/>
          </a:p>
        </p:txBody>
      </p:sp>
      <p:sp>
        <p:nvSpPr>
          <p:cNvPr id="7" name="Shape 5"/>
          <p:cNvSpPr/>
          <p:nvPr/>
        </p:nvSpPr>
        <p:spPr>
          <a:xfrm>
            <a:off x="731520" y="1737360"/>
            <a:ext cx="10424160" cy="777240"/>
          </a:xfrm>
          <a:prstGeom prst="roundRect">
            <a:avLst>
              <a:gd name="adj" fmla="val 11765"/>
            </a:avLst>
          </a:prstGeom>
          <a:solidFill>
            <a:srgbClr val="FFFFFF"/>
          </a:solidFill>
          <a:ln w="12700">
            <a:solidFill>
              <a:srgbClr val="E2E8F0"/>
            </a:solidFill>
            <a:prstDash val="solid"/>
          </a:ln>
        </p:spPr>
      </p:sp>
      <p:sp>
        <p:nvSpPr>
          <p:cNvPr id="8" name="Text 6"/>
          <p:cNvSpPr/>
          <p:nvPr/>
        </p:nvSpPr>
        <p:spPr>
          <a:xfrm>
            <a:off x="914400" y="1874520"/>
            <a:ext cx="2377440" cy="502920"/>
          </a:xfrm>
          <a:prstGeom prst="rect">
            <a:avLst/>
          </a:prstGeom>
          <a:noFill/>
          <a:ln/>
        </p:spPr>
        <p:txBody>
          <a:bodyPr wrap="square" rtlCol="0" anchor="ctr"/>
          <a:lstStyle/>
          <a:p>
            <a:pPr indent="0" marL="0">
              <a:buNone/>
            </a:pPr>
            <a:r>
              <a:rPr lang="en-US" sz="1000" b="1" dirty="0">
                <a:solidFill>
                  <a:srgbClr val="2563EB"/>
                </a:solidFill>
              </a:rPr>
              <a:t>FRONTEND FRAMEWORK</a:t>
            </a:r>
            <a:endParaRPr lang="en-US" sz="1000" dirty="0"/>
          </a:p>
        </p:txBody>
      </p:sp>
      <p:sp>
        <p:nvSpPr>
          <p:cNvPr id="9" name="Text 7"/>
          <p:cNvSpPr/>
          <p:nvPr/>
        </p:nvSpPr>
        <p:spPr>
          <a:xfrm>
            <a:off x="3291840" y="1874520"/>
            <a:ext cx="3200400" cy="502920"/>
          </a:xfrm>
          <a:prstGeom prst="rect">
            <a:avLst/>
          </a:prstGeom>
          <a:noFill/>
          <a:ln/>
        </p:spPr>
        <p:txBody>
          <a:bodyPr wrap="square" rtlCol="0" anchor="ctr"/>
          <a:lstStyle/>
          <a:p>
            <a:pPr indent="0" marL="0">
              <a:buNone/>
            </a:pPr>
            <a:r>
              <a:rPr lang="en-US" sz="1200" b="1" dirty="0">
                <a:solidFill>
                  <a:srgbClr val="1E293B"/>
                </a:solidFill>
              </a:rPr>
              <a:t>React 19 + Vite 8</a:t>
            </a:r>
            <a:endParaRPr lang="en-US" sz="1200" dirty="0"/>
          </a:p>
        </p:txBody>
      </p:sp>
      <p:sp>
        <p:nvSpPr>
          <p:cNvPr id="10" name="Text 8"/>
          <p:cNvSpPr/>
          <p:nvPr/>
        </p:nvSpPr>
        <p:spPr>
          <a:xfrm>
            <a:off x="6583680" y="1874520"/>
            <a:ext cx="4389120" cy="502920"/>
          </a:xfrm>
          <a:prstGeom prst="rect">
            <a:avLst/>
          </a:prstGeom>
          <a:noFill/>
          <a:ln/>
        </p:spPr>
        <p:txBody>
          <a:bodyPr wrap="square" rtlCol="0" anchor="ctr"/>
          <a:lstStyle/>
          <a:p>
            <a:pPr indent="0" marL="0">
              <a:buNone/>
            </a:pPr>
            <a:r>
              <a:rPr lang="en-US" sz="1000" dirty="0">
                <a:solidFill>
                  <a:srgbClr val="64748B"/>
                </a:solidFill>
              </a:rPr>
              <a:t>Blazing fast sub-second HMR builds, modern functional components, and modular state architecture.</a:t>
            </a:r>
            <a:endParaRPr lang="en-US" sz="1000" dirty="0"/>
          </a:p>
        </p:txBody>
      </p:sp>
      <p:sp>
        <p:nvSpPr>
          <p:cNvPr id="11" name="Shape 9"/>
          <p:cNvSpPr/>
          <p:nvPr/>
        </p:nvSpPr>
        <p:spPr>
          <a:xfrm>
            <a:off x="731520" y="2606040"/>
            <a:ext cx="10424160" cy="777240"/>
          </a:xfrm>
          <a:prstGeom prst="roundRect">
            <a:avLst>
              <a:gd name="adj" fmla="val 11765"/>
            </a:avLst>
          </a:prstGeom>
          <a:solidFill>
            <a:srgbClr val="FFFFFF"/>
          </a:solidFill>
          <a:ln w="12700">
            <a:solidFill>
              <a:srgbClr val="E2E8F0"/>
            </a:solidFill>
            <a:prstDash val="solid"/>
          </a:ln>
        </p:spPr>
      </p:sp>
      <p:sp>
        <p:nvSpPr>
          <p:cNvPr id="12" name="Text 10"/>
          <p:cNvSpPr/>
          <p:nvPr/>
        </p:nvSpPr>
        <p:spPr>
          <a:xfrm>
            <a:off x="914400" y="2743200"/>
            <a:ext cx="2377440" cy="502920"/>
          </a:xfrm>
          <a:prstGeom prst="rect">
            <a:avLst/>
          </a:prstGeom>
          <a:noFill/>
          <a:ln/>
        </p:spPr>
        <p:txBody>
          <a:bodyPr wrap="square" rtlCol="0" anchor="ctr"/>
          <a:lstStyle/>
          <a:p>
            <a:pPr indent="0" marL="0">
              <a:buNone/>
            </a:pPr>
            <a:r>
              <a:rPr lang="en-US" sz="1000" b="1" dirty="0">
                <a:solidFill>
                  <a:srgbClr val="2563EB"/>
                </a:solidFill>
              </a:rPr>
              <a:t>STYLING &amp; DESIGN SYSTEM</a:t>
            </a:r>
            <a:endParaRPr lang="en-US" sz="1000" dirty="0"/>
          </a:p>
        </p:txBody>
      </p:sp>
      <p:sp>
        <p:nvSpPr>
          <p:cNvPr id="13" name="Text 11"/>
          <p:cNvSpPr/>
          <p:nvPr/>
        </p:nvSpPr>
        <p:spPr>
          <a:xfrm>
            <a:off x="3291840" y="2743200"/>
            <a:ext cx="3200400" cy="502920"/>
          </a:xfrm>
          <a:prstGeom prst="rect">
            <a:avLst/>
          </a:prstGeom>
          <a:noFill/>
          <a:ln/>
        </p:spPr>
        <p:txBody>
          <a:bodyPr wrap="square" rtlCol="0" anchor="ctr"/>
          <a:lstStyle/>
          <a:p>
            <a:pPr indent="0" marL="0">
              <a:buNone/>
            </a:pPr>
            <a:r>
              <a:rPr lang="en-US" sz="1200" b="1" dirty="0">
                <a:solidFill>
                  <a:srgbClr val="1E293B"/>
                </a:solidFill>
              </a:rPr>
              <a:t>Tailwind CSS v4 + Plus Jakarta Sans</a:t>
            </a:r>
            <a:endParaRPr lang="en-US" sz="1200" dirty="0"/>
          </a:p>
        </p:txBody>
      </p:sp>
      <p:sp>
        <p:nvSpPr>
          <p:cNvPr id="14" name="Text 12"/>
          <p:cNvSpPr/>
          <p:nvPr/>
        </p:nvSpPr>
        <p:spPr>
          <a:xfrm>
            <a:off x="6583680" y="2743200"/>
            <a:ext cx="4389120" cy="502920"/>
          </a:xfrm>
          <a:prstGeom prst="rect">
            <a:avLst/>
          </a:prstGeom>
          <a:noFill/>
          <a:ln/>
        </p:spPr>
        <p:txBody>
          <a:bodyPr wrap="square" rtlCol="0" anchor="ctr"/>
          <a:lstStyle/>
          <a:p>
            <a:pPr indent="0" marL="0">
              <a:buNone/>
            </a:pPr>
            <a:r>
              <a:rPr lang="en-US" sz="1000" dirty="0">
                <a:solidFill>
                  <a:srgbClr val="64748B"/>
                </a:solidFill>
              </a:rPr>
              <a:t>Utility-first styling, responsive break-points, curated color tokens, and Google Fonts typography.</a:t>
            </a:r>
            <a:endParaRPr lang="en-US" sz="1000" dirty="0"/>
          </a:p>
        </p:txBody>
      </p:sp>
      <p:sp>
        <p:nvSpPr>
          <p:cNvPr id="15" name="Shape 13"/>
          <p:cNvSpPr/>
          <p:nvPr/>
        </p:nvSpPr>
        <p:spPr>
          <a:xfrm>
            <a:off x="731520" y="3474720"/>
            <a:ext cx="10424160" cy="777240"/>
          </a:xfrm>
          <a:prstGeom prst="roundRect">
            <a:avLst>
              <a:gd name="adj" fmla="val 11765"/>
            </a:avLst>
          </a:prstGeom>
          <a:solidFill>
            <a:srgbClr val="FFFFFF"/>
          </a:solidFill>
          <a:ln w="12700">
            <a:solidFill>
              <a:srgbClr val="E2E8F0"/>
            </a:solidFill>
            <a:prstDash val="solid"/>
          </a:ln>
        </p:spPr>
      </p:sp>
      <p:sp>
        <p:nvSpPr>
          <p:cNvPr id="16" name="Text 14"/>
          <p:cNvSpPr/>
          <p:nvPr/>
        </p:nvSpPr>
        <p:spPr>
          <a:xfrm>
            <a:off x="914400" y="3611880"/>
            <a:ext cx="2377440" cy="502920"/>
          </a:xfrm>
          <a:prstGeom prst="rect">
            <a:avLst/>
          </a:prstGeom>
          <a:noFill/>
          <a:ln/>
        </p:spPr>
        <p:txBody>
          <a:bodyPr wrap="square" rtlCol="0" anchor="ctr"/>
          <a:lstStyle/>
          <a:p>
            <a:pPr indent="0" marL="0">
              <a:buNone/>
            </a:pPr>
            <a:r>
              <a:rPr lang="en-US" sz="1000" b="1" dirty="0">
                <a:solidFill>
                  <a:srgbClr val="2563EB"/>
                </a:solidFill>
              </a:rPr>
              <a:t>INTERACTIVE COMPONENTS</a:t>
            </a:r>
            <a:endParaRPr lang="en-US" sz="1000" dirty="0"/>
          </a:p>
        </p:txBody>
      </p:sp>
      <p:sp>
        <p:nvSpPr>
          <p:cNvPr id="17" name="Text 15"/>
          <p:cNvSpPr/>
          <p:nvPr/>
        </p:nvSpPr>
        <p:spPr>
          <a:xfrm>
            <a:off x="3291840" y="3611880"/>
            <a:ext cx="3200400" cy="502920"/>
          </a:xfrm>
          <a:prstGeom prst="rect">
            <a:avLst/>
          </a:prstGeom>
          <a:noFill/>
          <a:ln/>
        </p:spPr>
        <p:txBody>
          <a:bodyPr wrap="square" rtlCol="0" anchor="ctr"/>
          <a:lstStyle/>
          <a:p>
            <a:pPr indent="0" marL="0">
              <a:buNone/>
            </a:pPr>
            <a:r>
              <a:rPr lang="en-US" sz="1200" b="1" dirty="0">
                <a:solidFill>
                  <a:srgbClr val="1E293B"/>
                </a:solidFill>
              </a:rPr>
              <a:t>Lucide React Icons</a:t>
            </a:r>
            <a:endParaRPr lang="en-US" sz="1200" dirty="0"/>
          </a:p>
        </p:txBody>
      </p:sp>
      <p:sp>
        <p:nvSpPr>
          <p:cNvPr id="18" name="Text 16"/>
          <p:cNvSpPr/>
          <p:nvPr/>
        </p:nvSpPr>
        <p:spPr>
          <a:xfrm>
            <a:off x="6583680" y="3611880"/>
            <a:ext cx="4389120" cy="502920"/>
          </a:xfrm>
          <a:prstGeom prst="rect">
            <a:avLst/>
          </a:prstGeom>
          <a:noFill/>
          <a:ln/>
        </p:spPr>
        <p:txBody>
          <a:bodyPr wrap="square" rtlCol="0" anchor="ctr"/>
          <a:lstStyle/>
          <a:p>
            <a:pPr indent="0" marL="0">
              <a:buNone/>
            </a:pPr>
            <a:r>
              <a:rPr lang="en-US" sz="1000" dirty="0">
                <a:solidFill>
                  <a:srgbClr val="64748B"/>
                </a:solidFill>
              </a:rPr>
              <a:t>Lightweight SVG icon system providing intuitive visual cues for conditions, filters, and actions.</a:t>
            </a:r>
            <a:endParaRPr lang="en-US" sz="1000" dirty="0"/>
          </a:p>
        </p:txBody>
      </p:sp>
      <p:sp>
        <p:nvSpPr>
          <p:cNvPr id="19" name="Shape 17"/>
          <p:cNvSpPr/>
          <p:nvPr/>
        </p:nvSpPr>
        <p:spPr>
          <a:xfrm>
            <a:off x="731520" y="4343400"/>
            <a:ext cx="10424160" cy="777240"/>
          </a:xfrm>
          <a:prstGeom prst="roundRect">
            <a:avLst>
              <a:gd name="adj" fmla="val 11765"/>
            </a:avLst>
          </a:prstGeom>
          <a:solidFill>
            <a:srgbClr val="FFFFFF"/>
          </a:solidFill>
          <a:ln w="12700">
            <a:solidFill>
              <a:srgbClr val="E2E8F0"/>
            </a:solidFill>
            <a:prstDash val="solid"/>
          </a:ln>
        </p:spPr>
      </p:sp>
      <p:sp>
        <p:nvSpPr>
          <p:cNvPr id="20" name="Text 18"/>
          <p:cNvSpPr/>
          <p:nvPr/>
        </p:nvSpPr>
        <p:spPr>
          <a:xfrm>
            <a:off x="914400" y="4480560"/>
            <a:ext cx="2377440" cy="502920"/>
          </a:xfrm>
          <a:prstGeom prst="rect">
            <a:avLst/>
          </a:prstGeom>
          <a:noFill/>
          <a:ln/>
        </p:spPr>
        <p:txBody>
          <a:bodyPr wrap="square" rtlCol="0" anchor="ctr"/>
          <a:lstStyle/>
          <a:p>
            <a:pPr indent="0" marL="0">
              <a:buNone/>
            </a:pPr>
            <a:r>
              <a:rPr lang="en-US" sz="1000" b="1" dirty="0">
                <a:solidFill>
                  <a:srgbClr val="2563EB"/>
                </a:solidFill>
              </a:rPr>
              <a:t>CLIENT STORAGE &amp; PERSISTENCE</a:t>
            </a:r>
            <a:endParaRPr lang="en-US" sz="1000" dirty="0"/>
          </a:p>
        </p:txBody>
      </p:sp>
      <p:sp>
        <p:nvSpPr>
          <p:cNvPr id="21" name="Text 19"/>
          <p:cNvSpPr/>
          <p:nvPr/>
        </p:nvSpPr>
        <p:spPr>
          <a:xfrm>
            <a:off x="3291840" y="4480560"/>
            <a:ext cx="3200400" cy="502920"/>
          </a:xfrm>
          <a:prstGeom prst="rect">
            <a:avLst/>
          </a:prstGeom>
          <a:noFill/>
          <a:ln/>
        </p:spPr>
        <p:txBody>
          <a:bodyPr wrap="square" rtlCol="0" anchor="ctr"/>
          <a:lstStyle/>
          <a:p>
            <a:pPr indent="0" marL="0">
              <a:buNone/>
            </a:pPr>
            <a:r>
              <a:rPr lang="en-US" sz="1200" b="1" dirty="0">
                <a:solidFill>
                  <a:srgbClr val="1E293B"/>
                </a:solidFill>
              </a:rPr>
              <a:t>HTML5 LocalStorage Engine</a:t>
            </a:r>
            <a:endParaRPr lang="en-US" sz="1200" dirty="0"/>
          </a:p>
        </p:txBody>
      </p:sp>
      <p:sp>
        <p:nvSpPr>
          <p:cNvPr id="22" name="Text 20"/>
          <p:cNvSpPr/>
          <p:nvPr/>
        </p:nvSpPr>
        <p:spPr>
          <a:xfrm>
            <a:off x="6583680" y="4480560"/>
            <a:ext cx="4389120" cy="502920"/>
          </a:xfrm>
          <a:prstGeom prst="rect">
            <a:avLst/>
          </a:prstGeom>
          <a:noFill/>
          <a:ln/>
        </p:spPr>
        <p:txBody>
          <a:bodyPr wrap="square" rtlCol="0" anchor="ctr"/>
          <a:lstStyle/>
          <a:p>
            <a:pPr indent="0" marL="0">
              <a:buNone/>
            </a:pPr>
            <a:r>
              <a:rPr lang="en-US" sz="1000" dirty="0">
                <a:solidFill>
                  <a:srgbClr val="64748B"/>
                </a:solidFill>
              </a:rPr>
              <a:t>Caches user listings, custom uploads, active sessions, and student wishlist persistently across sessions.</a:t>
            </a:r>
            <a:endParaRPr lang="en-US" sz="1000" dirty="0"/>
          </a:p>
        </p:txBody>
      </p:sp>
      <p:sp>
        <p:nvSpPr>
          <p:cNvPr id="23" name="Shape 21"/>
          <p:cNvSpPr/>
          <p:nvPr/>
        </p:nvSpPr>
        <p:spPr>
          <a:xfrm>
            <a:off x="731520" y="5212080"/>
            <a:ext cx="10424160" cy="777240"/>
          </a:xfrm>
          <a:prstGeom prst="roundRect">
            <a:avLst>
              <a:gd name="adj" fmla="val 11765"/>
            </a:avLst>
          </a:prstGeom>
          <a:solidFill>
            <a:srgbClr val="FFFFFF"/>
          </a:solidFill>
          <a:ln w="12700">
            <a:solidFill>
              <a:srgbClr val="E2E8F0"/>
            </a:solidFill>
            <a:prstDash val="solid"/>
          </a:ln>
        </p:spPr>
      </p:sp>
      <p:sp>
        <p:nvSpPr>
          <p:cNvPr id="24" name="Text 22"/>
          <p:cNvSpPr/>
          <p:nvPr/>
        </p:nvSpPr>
        <p:spPr>
          <a:xfrm>
            <a:off x="914400" y="5349240"/>
            <a:ext cx="2377440" cy="502920"/>
          </a:xfrm>
          <a:prstGeom prst="rect">
            <a:avLst/>
          </a:prstGeom>
          <a:noFill/>
          <a:ln/>
        </p:spPr>
        <p:txBody>
          <a:bodyPr wrap="square" rtlCol="0" anchor="ctr"/>
          <a:lstStyle/>
          <a:p>
            <a:pPr indent="0" marL="0">
              <a:buNone/>
            </a:pPr>
            <a:r>
              <a:rPr lang="en-US" sz="1000" b="1" dirty="0">
                <a:solidFill>
                  <a:srgbClr val="2563EB"/>
                </a:solidFill>
              </a:rPr>
              <a:t>FUTURE BACKEND INTEGRATION</a:t>
            </a:r>
            <a:endParaRPr lang="en-US" sz="1000" dirty="0"/>
          </a:p>
        </p:txBody>
      </p:sp>
      <p:sp>
        <p:nvSpPr>
          <p:cNvPr id="25" name="Text 23"/>
          <p:cNvSpPr/>
          <p:nvPr/>
        </p:nvSpPr>
        <p:spPr>
          <a:xfrm>
            <a:off x="3291840" y="5349240"/>
            <a:ext cx="3200400" cy="502920"/>
          </a:xfrm>
          <a:prstGeom prst="rect">
            <a:avLst/>
          </a:prstGeom>
          <a:noFill/>
          <a:ln/>
        </p:spPr>
        <p:txBody>
          <a:bodyPr wrap="square" rtlCol="0" anchor="ctr"/>
          <a:lstStyle/>
          <a:p>
            <a:pPr indent="0" marL="0">
              <a:buNone/>
            </a:pPr>
            <a:r>
              <a:rPr lang="en-US" sz="1200" b="1" dirty="0">
                <a:solidFill>
                  <a:srgbClr val="1E293B"/>
                </a:solidFill>
              </a:rPr>
              <a:t>Supabase / Firebase Ready</a:t>
            </a:r>
            <a:endParaRPr lang="en-US" sz="1200" dirty="0"/>
          </a:p>
        </p:txBody>
      </p:sp>
      <p:sp>
        <p:nvSpPr>
          <p:cNvPr id="26" name="Text 24"/>
          <p:cNvSpPr/>
          <p:nvPr/>
        </p:nvSpPr>
        <p:spPr>
          <a:xfrm>
            <a:off x="6583680" y="5349240"/>
            <a:ext cx="4389120" cy="502920"/>
          </a:xfrm>
          <a:prstGeom prst="rect">
            <a:avLst/>
          </a:prstGeom>
          <a:noFill/>
          <a:ln/>
        </p:spPr>
        <p:txBody>
          <a:bodyPr wrap="square" rtlCol="0" anchor="ctr"/>
          <a:lstStyle/>
          <a:p>
            <a:pPr indent="0" marL="0">
              <a:buNone/>
            </a:pPr>
            <a:r>
              <a:rPr lang="en-US" sz="1000" dirty="0">
                <a:solidFill>
                  <a:srgbClr val="64748B"/>
                </a:solidFill>
              </a:rPr>
              <a:t>Clean data contracts designed for zero-refactor migration to PostgreSQL, Auth, and S3 storage.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57200"/>
            <a:ext cx="2377440" cy="320040"/>
          </a:xfrm>
          <a:prstGeom prst="roundRect">
            <a:avLst>
              <a:gd name="adj" fmla="val 28571"/>
            </a:avLst>
          </a:prstGeom>
          <a:solidFill>
            <a:srgbClr val="EFF6FF"/>
          </a:solidFill>
          <a:ln w="12700">
            <a:solidFill>
              <a:srgbClr val="BFDBFE"/>
            </a:solidFill>
            <a:prstDash val="solid"/>
          </a:ln>
        </p:spPr>
      </p:sp>
      <p:sp>
        <p:nvSpPr>
          <p:cNvPr id="3" name="Text 1"/>
          <p:cNvSpPr/>
          <p:nvPr/>
        </p:nvSpPr>
        <p:spPr>
          <a:xfrm>
            <a:off x="731520" y="457200"/>
            <a:ext cx="2377440" cy="320040"/>
          </a:xfrm>
          <a:prstGeom prst="rect">
            <a:avLst/>
          </a:prstGeom>
          <a:noFill/>
          <a:ln/>
        </p:spPr>
        <p:txBody>
          <a:bodyPr wrap="square" rtlCol="0" anchor="ctr"/>
          <a:lstStyle/>
          <a:p>
            <a:pPr algn="ctr" indent="0" marL="0">
              <a:buNone/>
            </a:pPr>
            <a:r>
              <a:rPr lang="en-US" sz="900" b="1" dirty="0">
                <a:solidFill>
                  <a:srgbClr val="2563EB"/>
                </a:solidFill>
              </a:rPr>
              <a:t>IMPACT &amp; SUSTAINABILITY</a:t>
            </a:r>
            <a:endParaRPr lang="en-US" sz="9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Sustainability &amp; Circular Educational Economy</a:t>
            </a:r>
            <a:endParaRPr lang="en-US" sz="2200" dirty="0"/>
          </a:p>
        </p:txBody>
      </p:sp>
      <p:sp>
        <p:nvSpPr>
          <p:cNvPr id="5" name="Shape 3"/>
          <p:cNvSpPr/>
          <p:nvPr/>
        </p:nvSpPr>
        <p:spPr>
          <a:xfrm>
            <a:off x="0" y="0"/>
            <a:ext cx="9144000" cy="73152"/>
          </a:xfrm>
          <a:prstGeom prst="rect">
            <a:avLst/>
          </a:prstGeom>
          <a:solidFill>
            <a:srgbClr val="2563EB"/>
          </a:solidFill>
          <a:ln/>
        </p:spPr>
      </p:sp>
      <p:sp>
        <p:nvSpPr>
          <p:cNvPr id="6" name="Text 4"/>
          <p:cNvSpPr/>
          <p:nvPr/>
        </p:nvSpPr>
        <p:spPr>
          <a:xfrm>
            <a:off x="731520" y="6400800"/>
            <a:ext cx="4572000" cy="274320"/>
          </a:xfrm>
          <a:prstGeom prst="rect">
            <a:avLst/>
          </a:prstGeom>
          <a:noFill/>
          <a:ln/>
        </p:spPr>
        <p:txBody>
          <a:bodyPr wrap="square" rtlCol="0" anchor="ctr"/>
          <a:lstStyle/>
          <a:p>
            <a:pPr indent="0" marL="0">
              <a:buNone/>
            </a:pPr>
            <a:r>
              <a:rPr lang="en-US" sz="900" dirty="0">
                <a:solidFill>
                  <a:srgbClr val="64748B"/>
                </a:solidFill>
              </a:rPr>
              <a:t>BookLoop  |  Read More. Spend Less.</a:t>
            </a:r>
            <a:endParaRPr lang="en-US" sz="900" dirty="0"/>
          </a:p>
        </p:txBody>
      </p:sp>
      <p:sp>
        <p:nvSpPr>
          <p:cNvPr id="7" name="Shape 5"/>
          <p:cNvSpPr/>
          <p:nvPr/>
        </p:nvSpPr>
        <p:spPr>
          <a:xfrm>
            <a:off x="731520" y="1737360"/>
            <a:ext cx="3291840" cy="2011680"/>
          </a:xfrm>
          <a:prstGeom prst="roundRect">
            <a:avLst>
              <a:gd name="adj" fmla="val 6818"/>
            </a:avLst>
          </a:prstGeom>
          <a:solidFill>
            <a:srgbClr val="FFFFFF"/>
          </a:solidFill>
          <a:ln w="25400">
            <a:solidFill>
              <a:srgbClr val="2563EB"/>
            </a:solidFill>
            <a:prstDash val="solid"/>
          </a:ln>
        </p:spPr>
      </p:sp>
      <p:sp>
        <p:nvSpPr>
          <p:cNvPr id="8" name="Text 6"/>
          <p:cNvSpPr/>
          <p:nvPr/>
        </p:nvSpPr>
        <p:spPr>
          <a:xfrm>
            <a:off x="1005840" y="1920240"/>
            <a:ext cx="2743200" cy="731520"/>
          </a:xfrm>
          <a:prstGeom prst="rect">
            <a:avLst/>
          </a:prstGeom>
          <a:noFill/>
          <a:ln/>
        </p:spPr>
        <p:txBody>
          <a:bodyPr wrap="square" rtlCol="0" anchor="ctr"/>
          <a:lstStyle/>
          <a:p>
            <a:pPr indent="0" marL="0">
              <a:buNone/>
            </a:pPr>
            <a:r>
              <a:rPr lang="en-US" sz="3200" b="1" dirty="0">
                <a:solidFill>
                  <a:srgbClr val="2563EB"/>
                </a:solidFill>
              </a:rPr>
              <a:t>75%</a:t>
            </a:r>
            <a:endParaRPr lang="en-US" sz="3200" dirty="0"/>
          </a:p>
        </p:txBody>
      </p:sp>
      <p:sp>
        <p:nvSpPr>
          <p:cNvPr id="9" name="Text 7"/>
          <p:cNvSpPr/>
          <p:nvPr/>
        </p:nvSpPr>
        <p:spPr>
          <a:xfrm>
            <a:off x="1005840" y="2606040"/>
            <a:ext cx="2743200" cy="365760"/>
          </a:xfrm>
          <a:prstGeom prst="rect">
            <a:avLst/>
          </a:prstGeom>
          <a:noFill/>
          <a:ln/>
        </p:spPr>
        <p:txBody>
          <a:bodyPr wrap="square" rtlCol="0" anchor="ctr"/>
          <a:lstStyle/>
          <a:p>
            <a:pPr indent="0" marL="0">
              <a:buNone/>
            </a:pPr>
            <a:r>
              <a:rPr lang="en-US" sz="1300" b="1" dirty="0">
                <a:solidFill>
                  <a:srgbClr val="1E293B"/>
                </a:solidFill>
              </a:rPr>
              <a:t>Average Savings</a:t>
            </a:r>
            <a:endParaRPr lang="en-US" sz="1300" dirty="0"/>
          </a:p>
        </p:txBody>
      </p:sp>
      <p:sp>
        <p:nvSpPr>
          <p:cNvPr id="10" name="Text 8"/>
          <p:cNvSpPr/>
          <p:nvPr/>
        </p:nvSpPr>
        <p:spPr>
          <a:xfrm>
            <a:off x="1005840" y="2971800"/>
            <a:ext cx="2743200" cy="640080"/>
          </a:xfrm>
          <a:prstGeom prst="rect">
            <a:avLst/>
          </a:prstGeom>
          <a:noFill/>
          <a:ln/>
        </p:spPr>
        <p:txBody>
          <a:bodyPr wrap="square" rtlCol="0" anchor="ctr"/>
          <a:lstStyle/>
          <a:p>
            <a:pPr indent="0" marL="0">
              <a:buNone/>
            </a:pPr>
            <a:r>
              <a:rPr lang="en-US" sz="1000" dirty="0">
                <a:solidFill>
                  <a:srgbClr val="64748B"/>
                </a:solidFill>
              </a:rPr>
              <a:t>Discounts on required college textbooks vs new store purchases.</a:t>
            </a:r>
            <a:endParaRPr lang="en-US" sz="1000" dirty="0"/>
          </a:p>
        </p:txBody>
      </p:sp>
      <p:sp>
        <p:nvSpPr>
          <p:cNvPr id="11" name="Shape 9"/>
          <p:cNvSpPr/>
          <p:nvPr/>
        </p:nvSpPr>
        <p:spPr>
          <a:xfrm>
            <a:off x="4297680" y="1737360"/>
            <a:ext cx="3291840" cy="2011680"/>
          </a:xfrm>
          <a:prstGeom prst="roundRect">
            <a:avLst>
              <a:gd name="adj" fmla="val 6818"/>
            </a:avLst>
          </a:prstGeom>
          <a:solidFill>
            <a:srgbClr val="FFFFFF"/>
          </a:solidFill>
          <a:ln w="25400">
            <a:solidFill>
              <a:srgbClr val="F97316"/>
            </a:solidFill>
            <a:prstDash val="solid"/>
          </a:ln>
        </p:spPr>
      </p:sp>
      <p:sp>
        <p:nvSpPr>
          <p:cNvPr id="12" name="Text 10"/>
          <p:cNvSpPr/>
          <p:nvPr/>
        </p:nvSpPr>
        <p:spPr>
          <a:xfrm>
            <a:off x="4572000" y="1920240"/>
            <a:ext cx="2743200" cy="731520"/>
          </a:xfrm>
          <a:prstGeom prst="rect">
            <a:avLst/>
          </a:prstGeom>
          <a:noFill/>
          <a:ln/>
        </p:spPr>
        <p:txBody>
          <a:bodyPr wrap="square" rtlCol="0" anchor="ctr"/>
          <a:lstStyle/>
          <a:p>
            <a:pPr indent="0" marL="0">
              <a:buNone/>
            </a:pPr>
            <a:r>
              <a:rPr lang="en-US" sz="3200" b="1" dirty="0">
                <a:solidFill>
                  <a:srgbClr val="F97316"/>
                </a:solidFill>
              </a:rPr>
              <a:t>4x</a:t>
            </a:r>
            <a:endParaRPr lang="en-US" sz="3200" dirty="0"/>
          </a:p>
        </p:txBody>
      </p:sp>
      <p:sp>
        <p:nvSpPr>
          <p:cNvPr id="13" name="Text 11"/>
          <p:cNvSpPr/>
          <p:nvPr/>
        </p:nvSpPr>
        <p:spPr>
          <a:xfrm>
            <a:off x="4572000" y="2606040"/>
            <a:ext cx="2743200" cy="365760"/>
          </a:xfrm>
          <a:prstGeom prst="rect">
            <a:avLst/>
          </a:prstGeom>
          <a:noFill/>
          <a:ln/>
        </p:spPr>
        <p:txBody>
          <a:bodyPr wrap="square" rtlCol="0" anchor="ctr"/>
          <a:lstStyle/>
          <a:p>
            <a:pPr indent="0" marL="0">
              <a:buNone/>
            </a:pPr>
            <a:r>
              <a:rPr lang="en-US" sz="1300" b="1" dirty="0">
                <a:solidFill>
                  <a:srgbClr val="1E293B"/>
                </a:solidFill>
              </a:rPr>
              <a:t>Extended Life Cycle</a:t>
            </a:r>
            <a:endParaRPr lang="en-US" sz="1300" dirty="0"/>
          </a:p>
        </p:txBody>
      </p:sp>
      <p:sp>
        <p:nvSpPr>
          <p:cNvPr id="14" name="Text 12"/>
          <p:cNvSpPr/>
          <p:nvPr/>
        </p:nvSpPr>
        <p:spPr>
          <a:xfrm>
            <a:off x="4572000" y="2971800"/>
            <a:ext cx="2743200" cy="640080"/>
          </a:xfrm>
          <a:prstGeom prst="rect">
            <a:avLst/>
          </a:prstGeom>
          <a:noFill/>
          <a:ln/>
        </p:spPr>
        <p:txBody>
          <a:bodyPr wrap="square" rtlCol="0" anchor="ctr"/>
          <a:lstStyle/>
          <a:p>
            <a:pPr indent="0" marL="0">
              <a:buNone/>
            </a:pPr>
            <a:r>
              <a:rPr lang="en-US" sz="1000" dirty="0">
                <a:solidFill>
                  <a:srgbClr val="64748B"/>
                </a:solidFill>
              </a:rPr>
              <a:t>One textbook reused across 4 batches of junior students.</a:t>
            </a:r>
            <a:endParaRPr lang="en-US" sz="1000" dirty="0"/>
          </a:p>
        </p:txBody>
      </p:sp>
      <p:sp>
        <p:nvSpPr>
          <p:cNvPr id="15" name="Shape 13"/>
          <p:cNvSpPr/>
          <p:nvPr/>
        </p:nvSpPr>
        <p:spPr>
          <a:xfrm>
            <a:off x="7863840" y="1737360"/>
            <a:ext cx="3291840" cy="2011680"/>
          </a:xfrm>
          <a:prstGeom prst="roundRect">
            <a:avLst>
              <a:gd name="adj" fmla="val 6818"/>
            </a:avLst>
          </a:prstGeom>
          <a:solidFill>
            <a:srgbClr val="FFFFFF"/>
          </a:solidFill>
          <a:ln w="25400">
            <a:solidFill>
              <a:srgbClr val="10B981"/>
            </a:solidFill>
            <a:prstDash val="solid"/>
          </a:ln>
        </p:spPr>
      </p:sp>
      <p:sp>
        <p:nvSpPr>
          <p:cNvPr id="16" name="Text 14"/>
          <p:cNvSpPr/>
          <p:nvPr/>
        </p:nvSpPr>
        <p:spPr>
          <a:xfrm>
            <a:off x="8138160" y="1920240"/>
            <a:ext cx="2743200" cy="731520"/>
          </a:xfrm>
          <a:prstGeom prst="rect">
            <a:avLst/>
          </a:prstGeom>
          <a:noFill/>
          <a:ln/>
        </p:spPr>
        <p:txBody>
          <a:bodyPr wrap="square" rtlCol="0" anchor="ctr"/>
          <a:lstStyle/>
          <a:p>
            <a:pPr indent="0" marL="0">
              <a:buNone/>
            </a:pPr>
            <a:r>
              <a:rPr lang="en-US" sz="3200" b="1" dirty="0">
                <a:solidFill>
                  <a:srgbClr val="10B981"/>
                </a:solidFill>
              </a:rPr>
              <a:t>1000s</a:t>
            </a:r>
            <a:endParaRPr lang="en-US" sz="3200" dirty="0"/>
          </a:p>
        </p:txBody>
      </p:sp>
      <p:sp>
        <p:nvSpPr>
          <p:cNvPr id="17" name="Text 15"/>
          <p:cNvSpPr/>
          <p:nvPr/>
        </p:nvSpPr>
        <p:spPr>
          <a:xfrm>
            <a:off x="8138160" y="2606040"/>
            <a:ext cx="2743200" cy="365760"/>
          </a:xfrm>
          <a:prstGeom prst="rect">
            <a:avLst/>
          </a:prstGeom>
          <a:noFill/>
          <a:ln/>
        </p:spPr>
        <p:txBody>
          <a:bodyPr wrap="square" rtlCol="0" anchor="ctr"/>
          <a:lstStyle/>
          <a:p>
            <a:pPr indent="0" marL="0">
              <a:buNone/>
            </a:pPr>
            <a:r>
              <a:rPr lang="en-US" sz="1300" b="1" dirty="0">
                <a:solidFill>
                  <a:srgbClr val="1E293B"/>
                </a:solidFill>
              </a:rPr>
              <a:t>Pages of Paper Saved</a:t>
            </a:r>
            <a:endParaRPr lang="en-US" sz="1300" dirty="0"/>
          </a:p>
        </p:txBody>
      </p:sp>
      <p:sp>
        <p:nvSpPr>
          <p:cNvPr id="18" name="Text 16"/>
          <p:cNvSpPr/>
          <p:nvPr/>
        </p:nvSpPr>
        <p:spPr>
          <a:xfrm>
            <a:off x="8138160" y="2971800"/>
            <a:ext cx="2743200" cy="640080"/>
          </a:xfrm>
          <a:prstGeom prst="rect">
            <a:avLst/>
          </a:prstGeom>
          <a:noFill/>
          <a:ln/>
        </p:spPr>
        <p:txBody>
          <a:bodyPr wrap="square" rtlCol="0" anchor="ctr"/>
          <a:lstStyle/>
          <a:p>
            <a:pPr indent="0" marL="0">
              <a:buNone/>
            </a:pPr>
            <a:r>
              <a:rPr lang="en-US" sz="1000" dirty="0">
                <a:solidFill>
                  <a:srgbClr val="64748B"/>
                </a:solidFill>
              </a:rPr>
              <a:t>Direct reduction in fresh tree felling and industrial book re-printing.</a:t>
            </a:r>
            <a:endParaRPr lang="en-US" sz="1000" dirty="0"/>
          </a:p>
        </p:txBody>
      </p:sp>
      <p:sp>
        <p:nvSpPr>
          <p:cNvPr id="19" name="Shape 17"/>
          <p:cNvSpPr/>
          <p:nvPr/>
        </p:nvSpPr>
        <p:spPr>
          <a:xfrm>
            <a:off x="731520" y="4023360"/>
            <a:ext cx="10424160" cy="2011680"/>
          </a:xfrm>
          <a:prstGeom prst="roundRect">
            <a:avLst>
              <a:gd name="adj" fmla="val 6818"/>
            </a:avLst>
          </a:prstGeom>
          <a:solidFill>
            <a:srgbClr val="ECFDF5"/>
          </a:solidFill>
          <a:ln w="12700">
            <a:solidFill>
              <a:srgbClr val="A7F3D0"/>
            </a:solidFill>
            <a:prstDash val="solid"/>
          </a:ln>
        </p:spPr>
      </p:sp>
      <p:sp>
        <p:nvSpPr>
          <p:cNvPr id="20" name="Text 18"/>
          <p:cNvSpPr/>
          <p:nvPr/>
        </p:nvSpPr>
        <p:spPr>
          <a:xfrm>
            <a:off x="1005840" y="4206240"/>
            <a:ext cx="9875520" cy="365760"/>
          </a:xfrm>
          <a:prstGeom prst="rect">
            <a:avLst/>
          </a:prstGeom>
          <a:noFill/>
          <a:ln/>
        </p:spPr>
        <p:txBody>
          <a:bodyPr wrap="square" rtlCol="0" anchor="ctr"/>
          <a:lstStyle/>
          <a:p>
            <a:pPr indent="0" marL="0">
              <a:buNone/>
            </a:pPr>
            <a:r>
              <a:rPr lang="en-US" sz="1400" b="1" dirty="0">
                <a:solidFill>
                  <a:srgbClr val="065F46"/>
                </a:solidFill>
              </a:rPr>
              <a:t>Democratizing Higher Education in India</a:t>
            </a:r>
            <a:endParaRPr lang="en-US" sz="1400" dirty="0"/>
          </a:p>
        </p:txBody>
      </p:sp>
      <p:sp>
        <p:nvSpPr>
          <p:cNvPr id="21" name="Text 19"/>
          <p:cNvSpPr/>
          <p:nvPr/>
        </p:nvSpPr>
        <p:spPr>
          <a:xfrm>
            <a:off x="1005840" y="4617720"/>
            <a:ext cx="9875520" cy="1188720"/>
          </a:xfrm>
          <a:prstGeom prst="rect">
            <a:avLst/>
          </a:prstGeom>
          <a:noFill/>
          <a:ln/>
        </p:spPr>
        <p:txBody>
          <a:bodyPr wrap="square" rtlCol="0" anchor="ctr"/>
          <a:lstStyle/>
          <a:p>
            <a:pPr indent="0" marL="0">
              <a:lnSpc>
                <a:spcPts val="1800"/>
              </a:lnSpc>
              <a:buNone/>
            </a:pPr>
            <a:r>
              <a:rPr lang="en-US" sz="1150" dirty="0">
                <a:solidFill>
                  <a:srgbClr val="047857"/>
                </a:solidFill>
              </a:rPr>
              <a:t>Quality educational literature should never be restricted by socioeconomic barriers. By building an active campus circular economy, BookLoop ensures that every aspiring engineer, doctor, civil servant, or commerce student can access gold-standard textbooks without compromising on their family budgets.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57200"/>
            <a:ext cx="2377440" cy="320040"/>
          </a:xfrm>
          <a:prstGeom prst="roundRect">
            <a:avLst>
              <a:gd name="adj" fmla="val 28571"/>
            </a:avLst>
          </a:prstGeom>
          <a:solidFill>
            <a:srgbClr val="EFF6FF"/>
          </a:solidFill>
          <a:ln w="12700">
            <a:solidFill>
              <a:srgbClr val="BFDBFE"/>
            </a:solidFill>
            <a:prstDash val="solid"/>
          </a:ln>
        </p:spPr>
      </p:sp>
      <p:sp>
        <p:nvSpPr>
          <p:cNvPr id="3" name="Text 1"/>
          <p:cNvSpPr/>
          <p:nvPr/>
        </p:nvSpPr>
        <p:spPr>
          <a:xfrm>
            <a:off x="731520" y="457200"/>
            <a:ext cx="2377440" cy="320040"/>
          </a:xfrm>
          <a:prstGeom prst="rect">
            <a:avLst/>
          </a:prstGeom>
          <a:noFill/>
          <a:ln/>
        </p:spPr>
        <p:txBody>
          <a:bodyPr wrap="square" rtlCol="0" anchor="ctr"/>
          <a:lstStyle/>
          <a:p>
            <a:pPr algn="ctr" indent="0" marL="0">
              <a:buNone/>
            </a:pPr>
            <a:r>
              <a:rPr lang="en-US" sz="900" b="1" dirty="0">
                <a:solidFill>
                  <a:srgbClr val="2563EB"/>
                </a:solidFill>
              </a:rPr>
              <a:t>COMPETITIVE EDGE</a:t>
            </a:r>
            <a:endParaRPr lang="en-US" sz="9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Market Differentiation: BookLoop vs Generic Platforms</a:t>
            </a:r>
            <a:endParaRPr lang="en-US" sz="2200" dirty="0"/>
          </a:p>
        </p:txBody>
      </p:sp>
      <p:sp>
        <p:nvSpPr>
          <p:cNvPr id="5" name="Shape 3"/>
          <p:cNvSpPr/>
          <p:nvPr/>
        </p:nvSpPr>
        <p:spPr>
          <a:xfrm>
            <a:off x="0" y="0"/>
            <a:ext cx="9144000" cy="73152"/>
          </a:xfrm>
          <a:prstGeom prst="rect">
            <a:avLst/>
          </a:prstGeom>
          <a:solidFill>
            <a:srgbClr val="2563EB"/>
          </a:solidFill>
          <a:ln/>
        </p:spPr>
      </p:sp>
      <p:sp>
        <p:nvSpPr>
          <p:cNvPr id="6" name="Text 4"/>
          <p:cNvSpPr/>
          <p:nvPr/>
        </p:nvSpPr>
        <p:spPr>
          <a:xfrm>
            <a:off x="731520" y="6400800"/>
            <a:ext cx="4572000" cy="274320"/>
          </a:xfrm>
          <a:prstGeom prst="rect">
            <a:avLst/>
          </a:prstGeom>
          <a:noFill/>
          <a:ln/>
        </p:spPr>
        <p:txBody>
          <a:bodyPr wrap="square" rtlCol="0" anchor="ctr"/>
          <a:lstStyle/>
          <a:p>
            <a:pPr indent="0" marL="0">
              <a:buNone/>
            </a:pPr>
            <a:r>
              <a:rPr lang="en-US" sz="900" dirty="0">
                <a:solidFill>
                  <a:srgbClr val="64748B"/>
                </a:solidFill>
              </a:rPr>
              <a:t>BookLoop  |  Read More. Spend Less.</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1737360"/>
          <a:ext cx="10424160" cy="914400"/>
        </p:xfrm>
        <a:graphic>
          <a:graphicData uri="http://schemas.openxmlformats.org/drawingml/2006/table">
            <a:tbl>
              <a:tblPr/>
              <a:tblGrid>
                <a:gridCol w="2286000"/>
                <a:gridCol w="2651760"/>
                <a:gridCol w="2651760"/>
                <a:gridCol w="2834640"/>
              </a:tblGrid>
              <a:tr h="502920">
                <a:tc>
                  <a:txBody>
                    <a:bodyPr/>
                    <a:lstStyle/>
                    <a:p>
                      <a:pPr indent="0" marL="0">
                        <a:buNone/>
                      </a:pPr>
                      <a:r>
                        <a:rPr lang="en-US" sz="1000" b="1" dirty="0">
                          <a:solidFill>
                            <a:srgbClr val="FFFFFF"/>
                          </a:solidFill>
                        </a:rPr>
                        <a:t>Feature Comparison</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000" b="1" dirty="0">
                          <a:solidFill>
                            <a:srgbClr val="FFFFFF"/>
                          </a:solidFill>
                        </a:rPr>
                        <a:t>Generic Classifieds (OLX/FB)</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475569"/>
                    </a:solidFill>
                  </a:tcPr>
                </a:tc>
                <a:tc>
                  <a:txBody>
                    <a:bodyPr/>
                    <a:lstStyle/>
                    <a:p>
                      <a:pPr indent="0" marL="0">
                        <a:buNone/>
                      </a:pPr>
                      <a:r>
                        <a:rPr lang="en-US" sz="1000" b="1" dirty="0">
                          <a:solidFill>
                            <a:srgbClr val="FFFFFF"/>
                          </a:solidFill>
                        </a:rPr>
                        <a:t>Second-Hand eCommerce</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475569"/>
                    </a:solidFill>
                  </a:tcPr>
                </a:tc>
                <a:tc>
                  <a:txBody>
                    <a:bodyPr/>
                    <a:lstStyle/>
                    <a:p>
                      <a:pPr indent="0" marL="0">
                        <a:buNone/>
                      </a:pPr>
                      <a:r>
                        <a:rPr lang="en-US" sz="1000" b="1" dirty="0">
                          <a:solidFill>
                            <a:srgbClr val="FFFFFF"/>
                          </a:solidFill>
                        </a:rPr>
                        <a:t>BookLoop (Our Platform)</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r>
              <a:tr h="822960">
                <a:tc>
                  <a:txBody>
                    <a:bodyPr/>
                    <a:lstStyle/>
                    <a:p>
                      <a:pPr indent="0" marL="0">
                        <a:buNone/>
                      </a:pPr>
                      <a:r>
                        <a:rPr lang="en-US" sz="1000" b="1" dirty="0">
                          <a:solidFill>
                            <a:srgbClr val="000000"/>
                          </a:solidFill>
                        </a:rPr>
                        <a:t>Academic Categorization</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Poor (lumped in generic "Books")</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Moderate</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Deep (8 Disciplines, Syllabus &amp; Editions)</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822960">
                <a:tc>
                  <a:txBody>
                    <a:bodyPr/>
                    <a:lstStyle/>
                    <a:p>
                      <a:pPr indent="0" marL="0">
                        <a:buNone/>
                      </a:pPr>
                      <a:r>
                        <a:rPr lang="en-US" sz="1000" b="1" dirty="0">
                          <a:solidFill>
                            <a:srgbClr val="000000"/>
                          </a:solidFill>
                        </a:rPr>
                        <a:t>Platform Commission</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Free but full of spam</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High (15% to 30% cut)</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100% Free / Zero Commission</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822960">
                <a:tc>
                  <a:txBody>
                    <a:bodyPr/>
                    <a:lstStyle/>
                    <a:p>
                      <a:pPr indent="0" marL="0">
                        <a:buNone/>
                      </a:pPr>
                      <a:r>
                        <a:rPr lang="en-US" sz="1000" b="1" dirty="0">
                          <a:solidFill>
                            <a:srgbClr val="000000"/>
                          </a:solidFill>
                        </a:rPr>
                        <a:t>Instant Delivery / Handover</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Risky unknown meetups</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Delayed (5 to 7 days courier)</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Same-day campus meetup in library/canteen</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822960">
                <a:tc>
                  <a:txBody>
                    <a:bodyPr/>
                    <a:lstStyle/>
                    <a:p>
                      <a:pPr indent="0" marL="0">
                        <a:buNone/>
                      </a:pPr>
                      <a:r>
                        <a:rPr lang="en-US" sz="1000" b="1" dirty="0">
                          <a:solidFill>
                            <a:srgbClr val="000000"/>
                          </a:solidFill>
                        </a:rPr>
                        <a:t>Handwritten Notes &amp; Papers</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Unsupported</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Unsupported (ISBN only)</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Dedicated category for toppers &amp; solved sets</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548640"/>
            <a:ext cx="2560320" cy="320040"/>
          </a:xfrm>
          <a:prstGeom prst="roundRect">
            <a:avLst>
              <a:gd name="adj" fmla="val 28571"/>
            </a:avLst>
          </a:prstGeom>
          <a:solidFill>
            <a:srgbClr val="1E293B"/>
          </a:solidFill>
          <a:ln w="12700">
            <a:solidFill>
              <a:srgbClr val="334155"/>
            </a:solidFill>
            <a:prstDash val="solid"/>
          </a:ln>
        </p:spPr>
      </p:sp>
      <p:sp>
        <p:nvSpPr>
          <p:cNvPr id="3" name="Text 1"/>
          <p:cNvSpPr/>
          <p:nvPr/>
        </p:nvSpPr>
        <p:spPr>
          <a:xfrm>
            <a:off x="731520" y="548640"/>
            <a:ext cx="2560320" cy="320040"/>
          </a:xfrm>
          <a:prstGeom prst="rect">
            <a:avLst/>
          </a:prstGeom>
          <a:noFill/>
          <a:ln/>
        </p:spPr>
        <p:txBody>
          <a:bodyPr wrap="square" rtlCol="0" anchor="ctr"/>
          <a:lstStyle/>
          <a:p>
            <a:pPr algn="ctr" indent="0" marL="0">
              <a:buNone/>
            </a:pPr>
            <a:r>
              <a:rPr lang="en-US" sz="900" b="1" dirty="0">
                <a:solidFill>
                  <a:srgbClr val="F97316"/>
                </a:solidFill>
              </a:rPr>
              <a:t>EXPANSION &amp; NEXT STEPS</a:t>
            </a:r>
            <a:endParaRPr lang="en-US" sz="900" dirty="0"/>
          </a:p>
        </p:txBody>
      </p:sp>
      <p:sp>
        <p:nvSpPr>
          <p:cNvPr id="4" name="Text 2"/>
          <p:cNvSpPr/>
          <p:nvPr/>
        </p:nvSpPr>
        <p:spPr>
          <a:xfrm>
            <a:off x="731520" y="960120"/>
            <a:ext cx="1005840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Roadmap &amp; Vision for BookLoop</a:t>
            </a:r>
            <a:endParaRPr lang="en-US" sz="2600" dirty="0"/>
          </a:p>
        </p:txBody>
      </p:sp>
      <p:sp>
        <p:nvSpPr>
          <p:cNvPr id="5" name="Shape 3"/>
          <p:cNvSpPr/>
          <p:nvPr/>
        </p:nvSpPr>
        <p:spPr>
          <a:xfrm>
            <a:off x="731520" y="1828800"/>
            <a:ext cx="3291840" cy="3474720"/>
          </a:xfrm>
          <a:prstGeom prst="roundRect">
            <a:avLst>
              <a:gd name="adj" fmla="val 4167"/>
            </a:avLst>
          </a:prstGeom>
          <a:solidFill>
            <a:srgbClr val="1E293B"/>
          </a:solidFill>
          <a:ln w="19050">
            <a:solidFill>
              <a:srgbClr val="2563EB"/>
            </a:solidFill>
            <a:prstDash val="solid"/>
          </a:ln>
        </p:spPr>
      </p:sp>
      <p:sp>
        <p:nvSpPr>
          <p:cNvPr id="6" name="Text 4"/>
          <p:cNvSpPr/>
          <p:nvPr/>
        </p:nvSpPr>
        <p:spPr>
          <a:xfrm>
            <a:off x="1005840" y="2057400"/>
            <a:ext cx="2743200" cy="411480"/>
          </a:xfrm>
          <a:prstGeom prst="rect">
            <a:avLst/>
          </a:prstGeom>
          <a:noFill/>
          <a:ln/>
        </p:spPr>
        <p:txBody>
          <a:bodyPr wrap="square" rtlCol="0" anchor="ctr"/>
          <a:lstStyle/>
          <a:p>
            <a:pPr indent="0" marL="0">
              <a:buNone/>
            </a:pPr>
            <a:r>
              <a:rPr lang="en-US" sz="1300" b="1" dirty="0">
                <a:solidFill>
                  <a:srgbClr val="93C5FD"/>
                </a:solidFill>
              </a:rPr>
              <a:t>Phase 1 (Current)</a:t>
            </a:r>
            <a:endParaRPr lang="en-US" sz="1300" dirty="0"/>
          </a:p>
        </p:txBody>
      </p:sp>
      <p:sp>
        <p:nvSpPr>
          <p:cNvPr id="7" name="Shape 5"/>
          <p:cNvSpPr/>
          <p:nvPr/>
        </p:nvSpPr>
        <p:spPr>
          <a:xfrm>
            <a:off x="1051560" y="2651760"/>
            <a:ext cx="91440" cy="91440"/>
          </a:xfrm>
          <a:prstGeom prst="ellipse">
            <a:avLst/>
          </a:prstGeom>
          <a:solidFill>
            <a:srgbClr val="FFFFFF"/>
          </a:solidFill>
          <a:ln/>
        </p:spPr>
      </p:sp>
      <p:sp>
        <p:nvSpPr>
          <p:cNvPr id="8" name="Text 6"/>
          <p:cNvSpPr/>
          <p:nvPr/>
        </p:nvSpPr>
        <p:spPr>
          <a:xfrm>
            <a:off x="1234440" y="2560320"/>
            <a:ext cx="2560320" cy="594360"/>
          </a:xfrm>
          <a:prstGeom prst="rect">
            <a:avLst/>
          </a:prstGeom>
          <a:noFill/>
          <a:ln/>
        </p:spPr>
        <p:txBody>
          <a:bodyPr wrap="square" rtlCol="0" anchor="ctr"/>
          <a:lstStyle/>
          <a:p>
            <a:pPr indent="0" marL="0">
              <a:buNone/>
            </a:pPr>
            <a:r>
              <a:rPr lang="en-US" sz="1050" dirty="0">
                <a:solidFill>
                  <a:srgbClr val="CBD5E1"/>
                </a:solidFill>
              </a:rPr>
              <a:t>React + Tailwind responsive web app</a:t>
            </a:r>
            <a:endParaRPr lang="en-US" sz="1050" dirty="0"/>
          </a:p>
        </p:txBody>
      </p:sp>
      <p:sp>
        <p:nvSpPr>
          <p:cNvPr id="9" name="Shape 7"/>
          <p:cNvSpPr/>
          <p:nvPr/>
        </p:nvSpPr>
        <p:spPr>
          <a:xfrm>
            <a:off x="1051560" y="3337560"/>
            <a:ext cx="91440" cy="91440"/>
          </a:xfrm>
          <a:prstGeom prst="ellipse">
            <a:avLst/>
          </a:prstGeom>
          <a:solidFill>
            <a:srgbClr val="FFFFFF"/>
          </a:solidFill>
          <a:ln/>
        </p:spPr>
      </p:sp>
      <p:sp>
        <p:nvSpPr>
          <p:cNvPr id="10" name="Text 8"/>
          <p:cNvSpPr/>
          <p:nvPr/>
        </p:nvSpPr>
        <p:spPr>
          <a:xfrm>
            <a:off x="1234440" y="3246120"/>
            <a:ext cx="2560320" cy="594360"/>
          </a:xfrm>
          <a:prstGeom prst="rect">
            <a:avLst/>
          </a:prstGeom>
          <a:noFill/>
          <a:ln/>
        </p:spPr>
        <p:txBody>
          <a:bodyPr wrap="square" rtlCol="0" anchor="ctr"/>
          <a:lstStyle/>
          <a:p>
            <a:pPr indent="0" marL="0">
              <a:buNone/>
            </a:pPr>
            <a:r>
              <a:rPr lang="en-US" sz="1050" dirty="0">
                <a:solidFill>
                  <a:srgbClr val="CBD5E1"/>
                </a:solidFill>
              </a:rPr>
              <a:t>8 Academic streams with dynamic filters</a:t>
            </a:r>
            <a:endParaRPr lang="en-US" sz="1050" dirty="0"/>
          </a:p>
        </p:txBody>
      </p:sp>
      <p:sp>
        <p:nvSpPr>
          <p:cNvPr id="11" name="Shape 9"/>
          <p:cNvSpPr/>
          <p:nvPr/>
        </p:nvSpPr>
        <p:spPr>
          <a:xfrm>
            <a:off x="1051560" y="4023360"/>
            <a:ext cx="91440" cy="91440"/>
          </a:xfrm>
          <a:prstGeom prst="ellipse">
            <a:avLst/>
          </a:prstGeom>
          <a:solidFill>
            <a:srgbClr val="FFFFFF"/>
          </a:solidFill>
          <a:ln/>
        </p:spPr>
      </p:sp>
      <p:sp>
        <p:nvSpPr>
          <p:cNvPr id="12" name="Text 10"/>
          <p:cNvSpPr/>
          <p:nvPr/>
        </p:nvSpPr>
        <p:spPr>
          <a:xfrm>
            <a:off x="1234440" y="3931920"/>
            <a:ext cx="2560320" cy="594360"/>
          </a:xfrm>
          <a:prstGeom prst="rect">
            <a:avLst/>
          </a:prstGeom>
          <a:noFill/>
          <a:ln/>
        </p:spPr>
        <p:txBody>
          <a:bodyPr wrap="square" rtlCol="0" anchor="ctr"/>
          <a:lstStyle/>
          <a:p>
            <a:pPr indent="0" marL="0">
              <a:buNone/>
            </a:pPr>
            <a:r>
              <a:rPr lang="en-US" sz="1050" dirty="0">
                <a:solidFill>
                  <a:srgbClr val="CBD5E1"/>
                </a:solidFill>
              </a:rPr>
              <a:t>Direct WhatsApp / Phone / Email contacts</a:t>
            </a:r>
            <a:endParaRPr lang="en-US" sz="1050" dirty="0"/>
          </a:p>
        </p:txBody>
      </p:sp>
      <p:sp>
        <p:nvSpPr>
          <p:cNvPr id="13" name="Shape 11"/>
          <p:cNvSpPr/>
          <p:nvPr/>
        </p:nvSpPr>
        <p:spPr>
          <a:xfrm>
            <a:off x="1051560" y="4709160"/>
            <a:ext cx="91440" cy="91440"/>
          </a:xfrm>
          <a:prstGeom prst="ellipse">
            <a:avLst/>
          </a:prstGeom>
          <a:solidFill>
            <a:srgbClr val="FFFFFF"/>
          </a:solidFill>
          <a:ln/>
        </p:spPr>
      </p:sp>
      <p:sp>
        <p:nvSpPr>
          <p:cNvPr id="14" name="Text 12"/>
          <p:cNvSpPr/>
          <p:nvPr/>
        </p:nvSpPr>
        <p:spPr>
          <a:xfrm>
            <a:off x="1234440" y="4617720"/>
            <a:ext cx="2560320" cy="594360"/>
          </a:xfrm>
          <a:prstGeom prst="rect">
            <a:avLst/>
          </a:prstGeom>
          <a:noFill/>
          <a:ln/>
        </p:spPr>
        <p:txBody>
          <a:bodyPr wrap="square" rtlCol="0" anchor="ctr"/>
          <a:lstStyle/>
          <a:p>
            <a:pPr indent="0" marL="0">
              <a:buNone/>
            </a:pPr>
            <a:r>
              <a:rPr lang="en-US" sz="1050" dirty="0">
                <a:solidFill>
                  <a:srgbClr val="CBD5E1"/>
                </a:solidFill>
              </a:rPr>
              <a:t>LocalStorage persistent listings</a:t>
            </a:r>
            <a:endParaRPr lang="en-US" sz="1050" dirty="0"/>
          </a:p>
        </p:txBody>
      </p:sp>
      <p:sp>
        <p:nvSpPr>
          <p:cNvPr id="15" name="Shape 13"/>
          <p:cNvSpPr/>
          <p:nvPr/>
        </p:nvSpPr>
        <p:spPr>
          <a:xfrm>
            <a:off x="4297680" y="1828800"/>
            <a:ext cx="3291840" cy="3474720"/>
          </a:xfrm>
          <a:prstGeom prst="roundRect">
            <a:avLst>
              <a:gd name="adj" fmla="val 4167"/>
            </a:avLst>
          </a:prstGeom>
          <a:solidFill>
            <a:srgbClr val="1E293B"/>
          </a:solidFill>
          <a:ln w="19050">
            <a:solidFill>
              <a:srgbClr val="F97316"/>
            </a:solidFill>
            <a:prstDash val="solid"/>
          </a:ln>
        </p:spPr>
      </p:sp>
      <p:sp>
        <p:nvSpPr>
          <p:cNvPr id="16" name="Text 14"/>
          <p:cNvSpPr/>
          <p:nvPr/>
        </p:nvSpPr>
        <p:spPr>
          <a:xfrm>
            <a:off x="4572000" y="2057400"/>
            <a:ext cx="2743200" cy="411480"/>
          </a:xfrm>
          <a:prstGeom prst="rect">
            <a:avLst/>
          </a:prstGeom>
          <a:noFill/>
          <a:ln/>
        </p:spPr>
        <p:txBody>
          <a:bodyPr wrap="square" rtlCol="0" anchor="ctr"/>
          <a:lstStyle/>
          <a:p>
            <a:pPr indent="0" marL="0">
              <a:buNone/>
            </a:pPr>
            <a:r>
              <a:rPr lang="en-US" sz="1300" b="1" dirty="0">
                <a:solidFill>
                  <a:srgbClr val="FDBA74"/>
                </a:solidFill>
              </a:rPr>
              <a:t>Phase 2 (Upcoming)</a:t>
            </a:r>
            <a:endParaRPr lang="en-US" sz="1300" dirty="0"/>
          </a:p>
        </p:txBody>
      </p:sp>
      <p:sp>
        <p:nvSpPr>
          <p:cNvPr id="17" name="Shape 15"/>
          <p:cNvSpPr/>
          <p:nvPr/>
        </p:nvSpPr>
        <p:spPr>
          <a:xfrm>
            <a:off x="4617720" y="2651760"/>
            <a:ext cx="91440" cy="91440"/>
          </a:xfrm>
          <a:prstGeom prst="ellipse">
            <a:avLst/>
          </a:prstGeom>
          <a:solidFill>
            <a:srgbClr val="FFFFFF"/>
          </a:solidFill>
          <a:ln/>
        </p:spPr>
      </p:sp>
      <p:sp>
        <p:nvSpPr>
          <p:cNvPr id="18" name="Text 16"/>
          <p:cNvSpPr/>
          <p:nvPr/>
        </p:nvSpPr>
        <p:spPr>
          <a:xfrm>
            <a:off x="4800600" y="2560320"/>
            <a:ext cx="2560320" cy="594360"/>
          </a:xfrm>
          <a:prstGeom prst="rect">
            <a:avLst/>
          </a:prstGeom>
          <a:noFill/>
          <a:ln/>
        </p:spPr>
        <p:txBody>
          <a:bodyPr wrap="square" rtlCol="0" anchor="ctr"/>
          <a:lstStyle/>
          <a:p>
            <a:pPr indent="0" marL="0">
              <a:buNone/>
            </a:pPr>
            <a:r>
              <a:rPr lang="en-US" sz="1050" dirty="0">
                <a:solidFill>
                  <a:srgbClr val="CBD5E1"/>
                </a:solidFill>
              </a:rPr>
              <a:t>Supabase authentication &amp; cloud database</a:t>
            </a:r>
            <a:endParaRPr lang="en-US" sz="1050" dirty="0"/>
          </a:p>
        </p:txBody>
      </p:sp>
      <p:sp>
        <p:nvSpPr>
          <p:cNvPr id="19" name="Shape 17"/>
          <p:cNvSpPr/>
          <p:nvPr/>
        </p:nvSpPr>
        <p:spPr>
          <a:xfrm>
            <a:off x="4617720" y="3337560"/>
            <a:ext cx="91440" cy="91440"/>
          </a:xfrm>
          <a:prstGeom prst="ellipse">
            <a:avLst/>
          </a:prstGeom>
          <a:solidFill>
            <a:srgbClr val="FFFFFF"/>
          </a:solidFill>
          <a:ln/>
        </p:spPr>
      </p:sp>
      <p:sp>
        <p:nvSpPr>
          <p:cNvPr id="20" name="Text 18"/>
          <p:cNvSpPr/>
          <p:nvPr/>
        </p:nvSpPr>
        <p:spPr>
          <a:xfrm>
            <a:off x="4800600" y="3246120"/>
            <a:ext cx="2560320" cy="594360"/>
          </a:xfrm>
          <a:prstGeom prst="rect">
            <a:avLst/>
          </a:prstGeom>
          <a:noFill/>
          <a:ln/>
        </p:spPr>
        <p:txBody>
          <a:bodyPr wrap="square" rtlCol="0" anchor="ctr"/>
          <a:lstStyle/>
          <a:p>
            <a:pPr indent="0" marL="0">
              <a:buNone/>
            </a:pPr>
            <a:r>
              <a:rPr lang="en-US" sz="1050" dirty="0">
                <a:solidFill>
                  <a:srgbClr val="CBD5E1"/>
                </a:solidFill>
              </a:rPr>
              <a:t>Verified college email (@edu/@ac.in) badges</a:t>
            </a:r>
            <a:endParaRPr lang="en-US" sz="1050" dirty="0"/>
          </a:p>
        </p:txBody>
      </p:sp>
      <p:sp>
        <p:nvSpPr>
          <p:cNvPr id="21" name="Shape 19"/>
          <p:cNvSpPr/>
          <p:nvPr/>
        </p:nvSpPr>
        <p:spPr>
          <a:xfrm>
            <a:off x="4617720" y="4023360"/>
            <a:ext cx="91440" cy="91440"/>
          </a:xfrm>
          <a:prstGeom prst="ellipse">
            <a:avLst/>
          </a:prstGeom>
          <a:solidFill>
            <a:srgbClr val="FFFFFF"/>
          </a:solidFill>
          <a:ln/>
        </p:spPr>
      </p:sp>
      <p:sp>
        <p:nvSpPr>
          <p:cNvPr id="22" name="Text 20"/>
          <p:cNvSpPr/>
          <p:nvPr/>
        </p:nvSpPr>
        <p:spPr>
          <a:xfrm>
            <a:off x="4800600" y="3931920"/>
            <a:ext cx="2560320" cy="594360"/>
          </a:xfrm>
          <a:prstGeom prst="rect">
            <a:avLst/>
          </a:prstGeom>
          <a:noFill/>
          <a:ln/>
        </p:spPr>
        <p:txBody>
          <a:bodyPr wrap="square" rtlCol="0" anchor="ctr"/>
          <a:lstStyle/>
          <a:p>
            <a:pPr indent="0" marL="0">
              <a:buNone/>
            </a:pPr>
            <a:r>
              <a:rPr lang="en-US" sz="1050" dirty="0">
                <a:solidFill>
                  <a:srgbClr val="CBD5E1"/>
                </a:solidFill>
              </a:rPr>
              <a:t>Campus Ambassador program across universities</a:t>
            </a:r>
            <a:endParaRPr lang="en-US" sz="1050" dirty="0"/>
          </a:p>
        </p:txBody>
      </p:sp>
      <p:sp>
        <p:nvSpPr>
          <p:cNvPr id="23" name="Shape 21"/>
          <p:cNvSpPr/>
          <p:nvPr/>
        </p:nvSpPr>
        <p:spPr>
          <a:xfrm>
            <a:off x="4617720" y="4709160"/>
            <a:ext cx="91440" cy="91440"/>
          </a:xfrm>
          <a:prstGeom prst="ellipse">
            <a:avLst/>
          </a:prstGeom>
          <a:solidFill>
            <a:srgbClr val="FFFFFF"/>
          </a:solidFill>
          <a:ln/>
        </p:spPr>
      </p:sp>
      <p:sp>
        <p:nvSpPr>
          <p:cNvPr id="24" name="Text 22"/>
          <p:cNvSpPr/>
          <p:nvPr/>
        </p:nvSpPr>
        <p:spPr>
          <a:xfrm>
            <a:off x="4800600" y="4617720"/>
            <a:ext cx="2560320" cy="594360"/>
          </a:xfrm>
          <a:prstGeom prst="rect">
            <a:avLst/>
          </a:prstGeom>
          <a:noFill/>
          <a:ln/>
        </p:spPr>
        <p:txBody>
          <a:bodyPr wrap="square" rtlCol="0" anchor="ctr"/>
          <a:lstStyle/>
          <a:p>
            <a:pPr indent="0" marL="0">
              <a:buNone/>
            </a:pPr>
            <a:r>
              <a:rPr lang="en-US" sz="1050" dirty="0">
                <a:solidFill>
                  <a:srgbClr val="CBD5E1"/>
                </a:solidFill>
              </a:rPr>
              <a:t>In-app chat messaging</a:t>
            </a:r>
            <a:endParaRPr lang="en-US" sz="1050" dirty="0"/>
          </a:p>
        </p:txBody>
      </p:sp>
      <p:sp>
        <p:nvSpPr>
          <p:cNvPr id="25" name="Shape 23"/>
          <p:cNvSpPr/>
          <p:nvPr/>
        </p:nvSpPr>
        <p:spPr>
          <a:xfrm>
            <a:off x="7863840" y="1828800"/>
            <a:ext cx="3291840" cy="3474720"/>
          </a:xfrm>
          <a:prstGeom prst="roundRect">
            <a:avLst>
              <a:gd name="adj" fmla="val 4167"/>
            </a:avLst>
          </a:prstGeom>
          <a:solidFill>
            <a:srgbClr val="1E293B"/>
          </a:solidFill>
          <a:ln w="19050">
            <a:solidFill>
              <a:srgbClr val="10B981"/>
            </a:solidFill>
            <a:prstDash val="solid"/>
          </a:ln>
        </p:spPr>
      </p:sp>
      <p:sp>
        <p:nvSpPr>
          <p:cNvPr id="26" name="Text 24"/>
          <p:cNvSpPr/>
          <p:nvPr/>
        </p:nvSpPr>
        <p:spPr>
          <a:xfrm>
            <a:off x="8138160" y="2057400"/>
            <a:ext cx="2743200" cy="411480"/>
          </a:xfrm>
          <a:prstGeom prst="rect">
            <a:avLst/>
          </a:prstGeom>
          <a:noFill/>
          <a:ln/>
        </p:spPr>
        <p:txBody>
          <a:bodyPr wrap="square" rtlCol="0" anchor="ctr"/>
          <a:lstStyle/>
          <a:p>
            <a:pPr indent="0" marL="0">
              <a:buNone/>
            </a:pPr>
            <a:r>
              <a:rPr lang="en-US" sz="1300" b="1" dirty="0">
                <a:solidFill>
                  <a:srgbClr val="6EE7B7"/>
                </a:solidFill>
              </a:rPr>
              <a:t>Phase 3 (Scale)</a:t>
            </a:r>
            <a:endParaRPr lang="en-US" sz="1300" dirty="0"/>
          </a:p>
        </p:txBody>
      </p:sp>
      <p:sp>
        <p:nvSpPr>
          <p:cNvPr id="27" name="Shape 25"/>
          <p:cNvSpPr/>
          <p:nvPr/>
        </p:nvSpPr>
        <p:spPr>
          <a:xfrm>
            <a:off x="8183880" y="2651760"/>
            <a:ext cx="91440" cy="91440"/>
          </a:xfrm>
          <a:prstGeom prst="ellipse">
            <a:avLst/>
          </a:prstGeom>
          <a:solidFill>
            <a:srgbClr val="FFFFFF"/>
          </a:solidFill>
          <a:ln/>
        </p:spPr>
      </p:sp>
      <p:sp>
        <p:nvSpPr>
          <p:cNvPr id="28" name="Text 26"/>
          <p:cNvSpPr/>
          <p:nvPr/>
        </p:nvSpPr>
        <p:spPr>
          <a:xfrm>
            <a:off x="8366760" y="2560320"/>
            <a:ext cx="2560320" cy="594360"/>
          </a:xfrm>
          <a:prstGeom prst="rect">
            <a:avLst/>
          </a:prstGeom>
          <a:noFill/>
          <a:ln/>
        </p:spPr>
        <p:txBody>
          <a:bodyPr wrap="square" rtlCol="0" anchor="ctr"/>
          <a:lstStyle/>
          <a:p>
            <a:pPr indent="0" marL="0">
              <a:buNone/>
            </a:pPr>
            <a:r>
              <a:rPr lang="en-US" sz="1050" dirty="0">
                <a:solidFill>
                  <a:srgbClr val="CBD5E1"/>
                </a:solidFill>
              </a:rPr>
              <a:t>Inter-college doorstep courier delivery</a:t>
            </a:r>
            <a:endParaRPr lang="en-US" sz="1050" dirty="0"/>
          </a:p>
        </p:txBody>
      </p:sp>
      <p:sp>
        <p:nvSpPr>
          <p:cNvPr id="29" name="Shape 27"/>
          <p:cNvSpPr/>
          <p:nvPr/>
        </p:nvSpPr>
        <p:spPr>
          <a:xfrm>
            <a:off x="8183880" y="3337560"/>
            <a:ext cx="91440" cy="91440"/>
          </a:xfrm>
          <a:prstGeom prst="ellipse">
            <a:avLst/>
          </a:prstGeom>
          <a:solidFill>
            <a:srgbClr val="FFFFFF"/>
          </a:solidFill>
          <a:ln/>
        </p:spPr>
      </p:sp>
      <p:sp>
        <p:nvSpPr>
          <p:cNvPr id="30" name="Text 28"/>
          <p:cNvSpPr/>
          <p:nvPr/>
        </p:nvSpPr>
        <p:spPr>
          <a:xfrm>
            <a:off x="8366760" y="3246120"/>
            <a:ext cx="2560320" cy="594360"/>
          </a:xfrm>
          <a:prstGeom prst="rect">
            <a:avLst/>
          </a:prstGeom>
          <a:noFill/>
          <a:ln/>
        </p:spPr>
        <p:txBody>
          <a:bodyPr wrap="square" rtlCol="0" anchor="ctr"/>
          <a:lstStyle/>
          <a:p>
            <a:pPr indent="0" marL="0">
              <a:buNone/>
            </a:pPr>
            <a:r>
              <a:rPr lang="en-US" sz="1050" dirty="0">
                <a:solidFill>
                  <a:srgbClr val="CBD5E1"/>
                </a:solidFill>
              </a:rPr>
              <a:t>Book buyback &amp; textbook rental subscriptions</a:t>
            </a:r>
            <a:endParaRPr lang="en-US" sz="1050" dirty="0"/>
          </a:p>
        </p:txBody>
      </p:sp>
      <p:sp>
        <p:nvSpPr>
          <p:cNvPr id="31" name="Shape 29"/>
          <p:cNvSpPr/>
          <p:nvPr/>
        </p:nvSpPr>
        <p:spPr>
          <a:xfrm>
            <a:off x="8183880" y="4023360"/>
            <a:ext cx="91440" cy="91440"/>
          </a:xfrm>
          <a:prstGeom prst="ellipse">
            <a:avLst/>
          </a:prstGeom>
          <a:solidFill>
            <a:srgbClr val="FFFFFF"/>
          </a:solidFill>
          <a:ln/>
        </p:spPr>
      </p:sp>
      <p:sp>
        <p:nvSpPr>
          <p:cNvPr id="32" name="Text 30"/>
          <p:cNvSpPr/>
          <p:nvPr/>
        </p:nvSpPr>
        <p:spPr>
          <a:xfrm>
            <a:off x="8366760" y="3931920"/>
            <a:ext cx="2560320" cy="594360"/>
          </a:xfrm>
          <a:prstGeom prst="rect">
            <a:avLst/>
          </a:prstGeom>
          <a:noFill/>
          <a:ln/>
        </p:spPr>
        <p:txBody>
          <a:bodyPr wrap="square" rtlCol="0" anchor="ctr"/>
          <a:lstStyle/>
          <a:p>
            <a:pPr indent="0" marL="0">
              <a:buNone/>
            </a:pPr>
            <a:r>
              <a:rPr lang="en-US" sz="1050" dirty="0">
                <a:solidFill>
                  <a:srgbClr val="CBD5E1"/>
                </a:solidFill>
              </a:rPr>
              <a:t>AI price recommendation engine based on wear</a:t>
            </a:r>
            <a:endParaRPr lang="en-US" sz="1050" dirty="0"/>
          </a:p>
        </p:txBody>
      </p:sp>
      <p:sp>
        <p:nvSpPr>
          <p:cNvPr id="33" name="Shape 31"/>
          <p:cNvSpPr/>
          <p:nvPr/>
        </p:nvSpPr>
        <p:spPr>
          <a:xfrm>
            <a:off x="8183880" y="4709160"/>
            <a:ext cx="91440" cy="91440"/>
          </a:xfrm>
          <a:prstGeom prst="ellipse">
            <a:avLst/>
          </a:prstGeom>
          <a:solidFill>
            <a:srgbClr val="FFFFFF"/>
          </a:solidFill>
          <a:ln/>
        </p:spPr>
      </p:sp>
      <p:sp>
        <p:nvSpPr>
          <p:cNvPr id="34" name="Text 32"/>
          <p:cNvSpPr/>
          <p:nvPr/>
        </p:nvSpPr>
        <p:spPr>
          <a:xfrm>
            <a:off x="8366760" y="4617720"/>
            <a:ext cx="2560320" cy="594360"/>
          </a:xfrm>
          <a:prstGeom prst="rect">
            <a:avLst/>
          </a:prstGeom>
          <a:noFill/>
          <a:ln/>
        </p:spPr>
        <p:txBody>
          <a:bodyPr wrap="square" rtlCol="0" anchor="ctr"/>
          <a:lstStyle/>
          <a:p>
            <a:pPr indent="0" marL="0">
              <a:buNone/>
            </a:pPr>
            <a:r>
              <a:rPr lang="en-US" sz="1050" dirty="0">
                <a:solidFill>
                  <a:srgbClr val="CBD5E1"/>
                </a:solidFill>
              </a:rPr>
              <a:t>National student leaderboard</a:t>
            </a:r>
            <a:endParaRPr lang="en-US" sz="1050" dirty="0"/>
          </a:p>
        </p:txBody>
      </p:sp>
      <p:sp>
        <p:nvSpPr>
          <p:cNvPr id="35" name="Shape 33"/>
          <p:cNvSpPr/>
          <p:nvPr/>
        </p:nvSpPr>
        <p:spPr>
          <a:xfrm>
            <a:off x="731520" y="5486400"/>
            <a:ext cx="10424160" cy="822960"/>
          </a:xfrm>
          <a:prstGeom prst="roundRect">
            <a:avLst>
              <a:gd name="adj" fmla="val 13333"/>
            </a:avLst>
          </a:prstGeom>
          <a:solidFill>
            <a:srgbClr val="2563EB"/>
          </a:solidFill>
          <a:ln/>
        </p:spPr>
      </p:sp>
      <p:sp>
        <p:nvSpPr>
          <p:cNvPr id="36" name="Text 34"/>
          <p:cNvSpPr/>
          <p:nvPr/>
        </p:nvSpPr>
        <p:spPr>
          <a:xfrm>
            <a:off x="914400" y="5486400"/>
            <a:ext cx="10058400" cy="822960"/>
          </a:xfrm>
          <a:prstGeom prst="rect">
            <a:avLst/>
          </a:prstGeom>
          <a:noFill/>
          <a:ln/>
        </p:spPr>
        <p:txBody>
          <a:bodyPr wrap="square" rtlCol="0" anchor="ctr"/>
          <a:lstStyle/>
          <a:p>
            <a:pPr algn="ctr" indent="0" marL="0">
              <a:buNone/>
            </a:pPr>
            <a:r>
              <a:rPr lang="en-US" sz="1500" b="1" dirty="0">
                <a:solidFill>
                  <a:srgbClr val="FFFFFF"/>
                </a:solidFill>
              </a:rPr>
              <a:t>“Read More. Spend Less.” — Thank You! Questions &amp; Discussion.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BookLoop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BookLoop - Student Study Materials Marketplace</dc:title>
  <dc:subject>12-Slide Comprehensive Project Deck</dc:subject>
  <dc:creator>BookLoop Team</dc:creator>
  <cp:lastModifiedBy>BookLoop Team</cp:lastModifiedBy>
  <cp:revision>1</cp:revision>
  <dcterms:created xsi:type="dcterms:W3CDTF">2026-10-15T17:54:44Z</dcterms:created>
  <dcterms:modified xsi:type="dcterms:W3CDTF">2026-10-15T17:54:44Z</dcterms:modified>
</cp:coreProperties>
</file>